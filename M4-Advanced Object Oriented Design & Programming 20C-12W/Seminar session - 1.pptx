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sldIdLst>
    <p:sldId id="256" r:id="rId5"/>
    <p:sldId id="274" r:id="rId6"/>
    <p:sldId id="340" r:id="rId7"/>
    <p:sldId id="341" r:id="rId8"/>
    <p:sldId id="297" r:id="rId9"/>
    <p:sldId id="298" r:id="rId10"/>
    <p:sldId id="300" r:id="rId11"/>
    <p:sldId id="336" r:id="rId12"/>
    <p:sldId id="331" r:id="rId13"/>
    <p:sldId id="344" r:id="rId14"/>
    <p:sldId id="343" r:id="rId15"/>
    <p:sldId id="335" r:id="rId16"/>
    <p:sldId id="308" r:id="rId17"/>
    <p:sldId id="30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waz Khan" initials="NK" lastIdx="1" clrIdx="0">
    <p:extLst>
      <p:ext uri="{19B8F6BF-5375-455C-9EA6-DF929625EA0E}">
        <p15:presenceInfo xmlns:p15="http://schemas.microsoft.com/office/powerpoint/2012/main" userId="a0de5fb5e07edf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392" autoAdjust="0"/>
    <p:restoredTop sz="94692"/>
  </p:normalViewPr>
  <p:slideViewPr>
    <p:cSldViewPr snapToGrid="0" snapToObjects="1">
      <p:cViewPr varScale="1">
        <p:scale>
          <a:sx n="104" d="100"/>
          <a:sy n="10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m Mazumdar" userId="c87ce139-0231-4c89-a3e2-4d619aba2c0a" providerId="ADAL" clId="{BED016B1-B1E2-43E1-A585-A1EEAEC4C845}"/>
    <pc:docChg chg="custSel modSld">
      <pc:chgData name="Anupam Mazumdar" userId="c87ce139-0231-4c89-a3e2-4d619aba2c0a" providerId="ADAL" clId="{BED016B1-B1E2-43E1-A585-A1EEAEC4C845}" dt="2025-10-24T10:43:35.174" v="34" actId="14100"/>
      <pc:docMkLst>
        <pc:docMk/>
      </pc:docMkLst>
      <pc:sldChg chg="modSp mod">
        <pc:chgData name="Anupam Mazumdar" userId="c87ce139-0231-4c89-a3e2-4d619aba2c0a" providerId="ADAL" clId="{BED016B1-B1E2-43E1-A585-A1EEAEC4C845}" dt="2025-10-24T10:39:48.443" v="7" actId="20577"/>
        <pc:sldMkLst>
          <pc:docMk/>
          <pc:sldMk cId="2541132132" sldId="256"/>
        </pc:sldMkLst>
        <pc:spChg chg="mod">
          <ac:chgData name="Anupam Mazumdar" userId="c87ce139-0231-4c89-a3e2-4d619aba2c0a" providerId="ADAL" clId="{BED016B1-B1E2-43E1-A585-A1EEAEC4C845}" dt="2025-10-24T10:39:48.443" v="7" actId="20577"/>
          <ac:spMkLst>
            <pc:docMk/>
            <pc:sldMk cId="2541132132" sldId="256"/>
            <ac:spMk id="2" creationId="{5EA4D0C1-3C69-1E4C-9552-4C78481C0140}"/>
          </ac:spMkLst>
        </pc:spChg>
      </pc:sldChg>
      <pc:sldChg chg="addSp delSp modSp mod">
        <pc:chgData name="Anupam Mazumdar" userId="c87ce139-0231-4c89-a3e2-4d619aba2c0a" providerId="ADAL" clId="{BED016B1-B1E2-43E1-A585-A1EEAEC4C845}" dt="2025-10-24T10:42:43.715" v="31" actId="1076"/>
        <pc:sldMkLst>
          <pc:docMk/>
          <pc:sldMk cId="1094009881" sldId="297"/>
        </pc:sldMkLst>
        <pc:picChg chg="del">
          <ac:chgData name="Anupam Mazumdar" userId="c87ce139-0231-4c89-a3e2-4d619aba2c0a" providerId="ADAL" clId="{BED016B1-B1E2-43E1-A585-A1EEAEC4C845}" dt="2025-10-24T10:40:39.312" v="8" actId="478"/>
          <ac:picMkLst>
            <pc:docMk/>
            <pc:sldMk cId="1094009881" sldId="297"/>
            <ac:picMk id="4" creationId="{E0FF6BD5-EAB2-67DB-EAAF-CC546784F976}"/>
          </ac:picMkLst>
        </pc:picChg>
        <pc:picChg chg="add mod">
          <ac:chgData name="Anupam Mazumdar" userId="c87ce139-0231-4c89-a3e2-4d619aba2c0a" providerId="ADAL" clId="{BED016B1-B1E2-43E1-A585-A1EEAEC4C845}" dt="2025-10-24T10:42:43.715" v="31" actId="1076"/>
          <ac:picMkLst>
            <pc:docMk/>
            <pc:sldMk cId="1094009881" sldId="297"/>
            <ac:picMk id="5" creationId="{47080472-4DF0-3C35-392D-1B3E519B33A1}"/>
          </ac:picMkLst>
        </pc:picChg>
      </pc:sldChg>
      <pc:sldChg chg="addSp delSp modSp mod">
        <pc:chgData name="Anupam Mazumdar" userId="c87ce139-0231-4c89-a3e2-4d619aba2c0a" providerId="ADAL" clId="{BED016B1-B1E2-43E1-A585-A1EEAEC4C845}" dt="2025-10-24T10:43:35.174" v="34" actId="14100"/>
        <pc:sldMkLst>
          <pc:docMk/>
          <pc:sldMk cId="4015066348" sldId="298"/>
        </pc:sldMkLst>
        <pc:picChg chg="del">
          <ac:chgData name="Anupam Mazumdar" userId="c87ce139-0231-4c89-a3e2-4d619aba2c0a" providerId="ADAL" clId="{BED016B1-B1E2-43E1-A585-A1EEAEC4C845}" dt="2025-10-24T10:40:45.461" v="9" actId="478"/>
          <ac:picMkLst>
            <pc:docMk/>
            <pc:sldMk cId="4015066348" sldId="298"/>
            <ac:picMk id="4" creationId="{EFA0554E-FB60-DEDC-84FD-6AE88EE20863}"/>
          </ac:picMkLst>
        </pc:picChg>
        <pc:picChg chg="add mod">
          <ac:chgData name="Anupam Mazumdar" userId="c87ce139-0231-4c89-a3e2-4d619aba2c0a" providerId="ADAL" clId="{BED016B1-B1E2-43E1-A585-A1EEAEC4C845}" dt="2025-10-24T10:43:35.174" v="34" actId="14100"/>
          <ac:picMkLst>
            <pc:docMk/>
            <pc:sldMk cId="4015066348" sldId="298"/>
            <ac:picMk id="5" creationId="{EEE92D4F-A9BF-6169-7AC0-DD882D12327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53945-D35A-42DA-BE92-A93558FE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08"/>
            <a:ext cx="9142570" cy="6856392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B4B624-5098-4F9B-9DF1-1ED249FA1B9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590" y="4059231"/>
            <a:ext cx="7894002" cy="609796"/>
          </a:xfrm>
        </p:spPr>
        <p:txBody>
          <a:bodyPr anchor="t">
            <a:noAutofit/>
          </a:bodyPr>
          <a:lstStyle>
            <a:lvl1pPr marL="0" indent="0" algn="ctr">
              <a:buNone/>
              <a:defRPr sz="4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Sub-title or speaker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D8BA8A6-2B14-4932-8E99-0BCD60256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0891" y="2719094"/>
            <a:ext cx="7886700" cy="1117800"/>
          </a:xfrm>
        </p:spPr>
        <p:txBody>
          <a:bodyPr>
            <a:noAutofit/>
          </a:bodyPr>
          <a:lstStyle>
            <a:lvl1pPr>
              <a:defRPr sz="104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331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 with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99C793-7AC9-4757-9914-6FBAC39A0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C39D7E-A97E-4BB4-9D19-B3694BB7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C1FB83-3EB8-484C-BD46-C79855472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4"/>
            <a:ext cx="7886700" cy="478974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69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035A14-D597-4506-9048-382F6C3B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89973"/>
            <a:ext cx="7886700" cy="5425401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158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9DF49-43C4-4065-AC6A-A9CEB9484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4"/>
            <a:ext cx="3867150" cy="478974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D98FF-11E9-4AAD-88A6-2B08ECEFA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4"/>
            <a:ext cx="3867150" cy="4789749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CDF5C6-30DB-4505-B876-4C90E94ADE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FB99D4-759B-46BF-91F0-548C9A534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777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8EC47-221B-4789-B7F9-BCD6D2CC5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895279"/>
            <a:ext cx="3868737" cy="609796"/>
          </a:xfrm>
        </p:spPr>
        <p:txBody>
          <a:bodyPr anchor="t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B5446-397F-487C-8394-43B14116D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4"/>
            <a:ext cx="3868737" cy="411029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A5EC4-410E-4804-9237-D4F941EA7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895279"/>
            <a:ext cx="3887788" cy="609796"/>
          </a:xfrm>
        </p:spPr>
        <p:txBody>
          <a:bodyPr anchor="t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EE6D6-DF48-49D8-903C-2DD486BC2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4"/>
            <a:ext cx="3887788" cy="411029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73A1A1-33D8-4F50-AB33-E280C32D8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F690690-42D6-4203-BA5D-A5D7D3C1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421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9D21-C506-435F-B055-16AF403B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2049462"/>
            <a:ext cx="4629150" cy="456591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 marL="1600200" indent="-228600">
              <a:buFont typeface="Wingdings" panose="05000000000000000000" pitchFamily="2" charset="2"/>
              <a:buChar char="§"/>
              <a:defRPr sz="1800"/>
            </a:lvl4pPr>
            <a:lvl5pPr marL="2057400" indent="-228600">
              <a:buFont typeface="Wingdings" panose="05000000000000000000" pitchFamily="2" charset="2"/>
              <a:buChar char="§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03A33-8131-467D-B50F-4EE3EE498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4565912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390FC3-3DC2-4EE6-A8E6-7A2C2DC6C3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26EBCA-CB6D-4447-BEE7-EB92812E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02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9D21-C506-435F-B055-16AF403B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38" y="2057400"/>
            <a:ext cx="4629150" cy="456591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 marL="1600200" indent="-228600">
              <a:buFont typeface="Wingdings" panose="05000000000000000000" pitchFamily="2" charset="2"/>
              <a:buChar char="§"/>
              <a:defRPr sz="1800"/>
            </a:lvl4pPr>
            <a:lvl5pPr marL="2057400" indent="-228600">
              <a:buFont typeface="Wingdings" panose="05000000000000000000" pitchFamily="2" charset="2"/>
              <a:buChar char="§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390FC3-3DC2-4EE6-A8E6-7A2C2DC6C3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26EBCA-CB6D-4447-BEE7-EB92812E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048D950-7CC0-458E-9C72-7F1D3D60F0DF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79889" y="2036936"/>
            <a:ext cx="2949575" cy="4565912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008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7DF5A-1D85-47E4-B730-5C5682024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2057400"/>
            <a:ext cx="4629150" cy="4557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41E7-ECCC-44F3-AF98-94E08DC2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4557974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B280A4-E4E7-4E02-9A87-745C9528F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B336DFF-0B62-4F84-B219-82DA8B99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054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1FD28FB-E2D1-4631-8058-294B0927399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0345" y="2057400"/>
            <a:ext cx="4629150" cy="4557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41E7-ECCC-44F3-AF98-94E08DC2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67363" y="2057400"/>
            <a:ext cx="2949575" cy="4557974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B280A4-E4E7-4E02-9A87-745C9528F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B336DFF-0B62-4F84-B219-82DA8B99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36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99C793-7AC9-4757-9914-6FBAC39A0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C39D7E-A97E-4BB4-9D19-B3694BB7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155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Onl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68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53945-D35A-42DA-BE92-A93558FE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570" cy="685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65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5DD430-9727-C844-A598-26063C75DE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0" y="1609"/>
            <a:ext cx="9142570" cy="685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7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303D8D-0EDB-41F6-B4DB-CC4B5EE058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84129"/>
          <a:stretch/>
        </p:blipFill>
        <p:spPr>
          <a:xfrm>
            <a:off x="1430" y="1609"/>
            <a:ext cx="9142570" cy="108815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C6FBC-4483-4B5E-92A0-380E1891E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72488-DD78-470E-B80C-585120F7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03956"/>
            <a:ext cx="7886700" cy="4711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87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82" r:id="rId2"/>
    <p:sldLayoutId id="2147483674" r:id="rId3"/>
    <p:sldLayoutId id="2147483671" r:id="rId4"/>
    <p:sldLayoutId id="2147483672" r:id="rId5"/>
    <p:sldLayoutId id="2147483675" r:id="rId6"/>
    <p:sldLayoutId id="2147483679" r:id="rId7"/>
    <p:sldLayoutId id="2147483676" r:id="rId8"/>
    <p:sldLayoutId id="2147483680" r:id="rId9"/>
    <p:sldLayoutId id="2147483673" r:id="rId10"/>
    <p:sldLayoutId id="2147483677" r:id="rId11"/>
    <p:sldLayoutId id="2147483681" r:id="rId12"/>
    <p:sldLayoutId id="214748368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upam.mazumdar@aspectworld.com" TargetMode="External"/><Relationship Id="rId2" Type="http://schemas.openxmlformats.org/officeDocument/2006/relationships/hyperlink" Target="mailto:anupam.mazumdar@kaplan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bookcentral.proquest.com/lib/universityofessex-ebooks/detail.action?docID=6680969&amp;pq-origsite=primo" TargetMode="External"/><Relationship Id="rId2" Type="http://schemas.openxmlformats.org/officeDocument/2006/relationships/hyperlink" Target="https://learning.oreilly.com/library/view/python-programming-by/9789357053303/?sso_link=yes&amp;sso_link_from=university-of-esse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513017-27F3-46F5-BBCE-BF9CE7B1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08" y="2611456"/>
            <a:ext cx="8678584" cy="1635087"/>
          </a:xfrm>
        </p:spPr>
        <p:txBody>
          <a:bodyPr/>
          <a:lstStyle/>
          <a:p>
            <a:pPr algn="ctr"/>
            <a:br>
              <a:rPr lang="en-GB" sz="3200" dirty="0"/>
            </a:br>
            <a:br>
              <a:rPr lang="en-GB" sz="3200" dirty="0"/>
            </a:br>
            <a:r>
              <a:rPr lang="en-GB" sz="3200" dirty="0">
                <a:solidFill>
                  <a:schemeClr val="tx1"/>
                </a:solidFill>
                <a:latin typeface="+mj-lt"/>
              </a:rPr>
              <a:t>Advanced Object – Oriented Design &amp;Programming (AOODP)</a:t>
            </a: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r>
              <a:rPr lang="en-GB" sz="3200" dirty="0">
                <a:solidFill>
                  <a:schemeClr val="tx1"/>
                </a:solidFill>
                <a:latin typeface="+mj-lt"/>
              </a:rPr>
              <a:t>Seminar – 1: Unit 1</a:t>
            </a: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r>
              <a:rPr lang="en-GB" sz="3200" dirty="0">
                <a:solidFill>
                  <a:schemeClr val="tx1"/>
                </a:solidFill>
                <a:latin typeface="+mj-lt"/>
              </a:rPr>
              <a:t>Introduction and Recap of Object-Oriented Programming</a:t>
            </a:r>
            <a:br>
              <a:rPr lang="en-GB" sz="3200" dirty="0"/>
            </a:br>
            <a:br>
              <a:rPr lang="en-GB" sz="32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endParaRPr lang="en-GB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4D0C1-3C69-1E4C-9552-4C78481C0140}"/>
              </a:ext>
            </a:extLst>
          </p:cNvPr>
          <p:cNvSpPr txBox="1"/>
          <p:nvPr/>
        </p:nvSpPr>
        <p:spPr>
          <a:xfrm>
            <a:off x="1097280" y="4486656"/>
            <a:ext cx="7388352" cy="1446550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Dr. Anupam Mazumdar</a:t>
            </a: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</a:rPr>
              <a:t>Email: </a:t>
            </a:r>
            <a:r>
              <a:rPr lang="en-US" sz="2000" dirty="0"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anupam.mazumdar@kaplan.com</a:t>
            </a:r>
            <a:endParaRPr lang="en-US" sz="2000" dirty="0"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2000" cap="none" spc="0" dirty="0">
                <a:ln>
                  <a:noFill/>
                </a:ln>
                <a:effectLst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nupam.mazumdar@aspectworld.com</a:t>
            </a:r>
            <a:endParaRPr lang="en-US" sz="2000" cap="none" spc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</a:rPr>
              <a:t>24/10/2025</a:t>
            </a:r>
            <a:endParaRPr lang="en-US" sz="2000" cap="none" spc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132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860611" y="1178526"/>
            <a:ext cx="7422778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buNone/>
            </a:pPr>
            <a:r>
              <a:rPr lang="en-GB" sz="3200" b="1" dirty="0"/>
              <a:t>Outlines of the Seminar -1</a:t>
            </a:r>
            <a:r>
              <a:rPr lang="en-GB" sz="3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16A87-61B2-6B42-B17A-25C5B3B93791}"/>
              </a:ext>
            </a:extLst>
          </p:cNvPr>
          <p:cNvSpPr txBox="1"/>
          <p:nvPr/>
        </p:nvSpPr>
        <p:spPr>
          <a:xfrm>
            <a:off x="420254" y="2197893"/>
            <a:ext cx="830349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Introduction to the module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Aims and Objectives of the module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Organisation</a:t>
            </a:r>
            <a:r>
              <a:rPr lang="en-GB" sz="2200" dirty="0"/>
              <a:t> of the seminars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Organisation of the assessments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Recap of OOP concepts</a:t>
            </a:r>
            <a:endParaRPr lang="en-GB" sz="2200" b="0" i="0" dirty="0">
              <a:effectLst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Seminar Questions &amp; Answers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5712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860611" y="1178526"/>
            <a:ext cx="7422778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buNone/>
            </a:pPr>
            <a:r>
              <a:rPr lang="en-GB" sz="3200" b="1" dirty="0"/>
              <a:t>Aims of the Module </a:t>
            </a: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16A87-61B2-6B42-B17A-25C5B3B93791}"/>
              </a:ext>
            </a:extLst>
          </p:cNvPr>
          <p:cNvSpPr txBox="1"/>
          <p:nvPr/>
        </p:nvSpPr>
        <p:spPr>
          <a:xfrm>
            <a:off x="420254" y="2201599"/>
            <a:ext cx="83034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Advanced OOP concepts: deepen your understanding of OOP principles, design patterns, and software architecture.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Practical application: apply your knowledge through coding exercises, case studies, and a capstone project.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Real-world relevance: learn how to design software that addresses societal challenges, including sustainability and inclusivity.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Collaborative learning: engage with peers and instructors through live seminars and online forums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Career preparation: gain skills that are highly relevant to careers in cybersecurity, data science, AI, and more. </a:t>
            </a:r>
          </a:p>
        </p:txBody>
      </p:sp>
    </p:spTree>
    <p:extLst>
      <p:ext uri="{BB962C8B-B14F-4D97-AF65-F5344CB8AC3E}">
        <p14:creationId xmlns:p14="http://schemas.microsoft.com/office/powerpoint/2010/main" val="190335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860611" y="1178526"/>
            <a:ext cx="7422778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buNone/>
            </a:pPr>
            <a:r>
              <a:rPr lang="en-GB" sz="3200" b="1" dirty="0"/>
              <a:t>Objectives of the Module </a:t>
            </a: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16A87-61B2-6B42-B17A-25C5B3B93791}"/>
              </a:ext>
            </a:extLst>
          </p:cNvPr>
          <p:cNvSpPr txBox="1"/>
          <p:nvPr/>
        </p:nvSpPr>
        <p:spPr>
          <a:xfrm>
            <a:off x="420254" y="2201599"/>
            <a:ext cx="83034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Understand and implement secure coding practices in software development.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Apply advanced object-oriented principles to solve complex software problems.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Utilise design patterns to create reusable, maintainable, and flexible code.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Design software architectures suitable for large-scale systems, ensuring security and robustness.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Develop software solutions that are adaptable for AI models and efficient for data science tasks. </a:t>
            </a:r>
          </a:p>
        </p:txBody>
      </p:sp>
    </p:spTree>
    <p:extLst>
      <p:ext uri="{BB962C8B-B14F-4D97-AF65-F5344CB8AC3E}">
        <p14:creationId xmlns:p14="http://schemas.microsoft.com/office/powerpoint/2010/main" val="4034811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860611" y="1171430"/>
            <a:ext cx="7422778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The organisation of the Seminars!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80472-4DF0-3C35-392D-1B3E519B3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8" y="1801643"/>
            <a:ext cx="8599055" cy="430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0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539046" y="1171154"/>
            <a:ext cx="8065906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Deadlines of Assignment Submission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92D4F-A9BF-6169-7AC0-DD882D12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926359"/>
            <a:ext cx="8877300" cy="222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66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/>
              <a:t>Concept of OOP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B2931-9FEE-C5F2-C589-B6A85BDCD584}"/>
              </a:ext>
            </a:extLst>
          </p:cNvPr>
          <p:cNvSpPr txBox="1"/>
          <p:nvPr/>
        </p:nvSpPr>
        <p:spPr>
          <a:xfrm>
            <a:off x="312316" y="1966606"/>
            <a:ext cx="8407400" cy="3785652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OOP is a programming approach that organises software design around objects (data structures containing attributes and methods) rather than functions and logic.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OOP represents real-world entities (e.g., cars, users, bank accounts) as objects with properties (attributes) and behaviours (methods).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OOP relies on four key principles: </a:t>
            </a:r>
            <a:r>
              <a:rPr lang="en-US" sz="2400" b="1" dirty="0">
                <a:cs typeface="Arial" panose="020B0604020202020204" pitchFamily="34" charset="0"/>
              </a:rPr>
              <a:t>Encapsulation, Inheritance, Polymorphism, and Abstraction</a:t>
            </a:r>
            <a:endParaRPr 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05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0" i="0" dirty="0">
                <a:effectLst/>
                <a:latin typeface="akzidenz-grotesk"/>
              </a:rPr>
              <a:t>Concepts of OOP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21822-23A4-36EB-84F9-103361EE46DA}"/>
              </a:ext>
            </a:extLst>
          </p:cNvPr>
          <p:cNvSpPr txBox="1"/>
          <p:nvPr/>
        </p:nvSpPr>
        <p:spPr>
          <a:xfrm>
            <a:off x="312316" y="1985007"/>
            <a:ext cx="8407400" cy="3416320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OOP languages and environments are designed around key principles that promote </a:t>
            </a:r>
            <a:r>
              <a:rPr lang="en-US" sz="2400" b="1" dirty="0">
                <a:cs typeface="Arial" panose="020B0604020202020204" pitchFamily="34" charset="0"/>
              </a:rPr>
              <a:t>modularity, reusability, and maintainability. </a:t>
            </a:r>
            <a:r>
              <a:rPr lang="en-US" sz="2400" dirty="0">
                <a:cs typeface="Arial" panose="020B0604020202020204" pitchFamily="34" charset="0"/>
              </a:rPr>
              <a:t>Some of the main characteristics are: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cs typeface="Arial" panose="020B0604020202020204" pitchFamily="34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Class &amp; Object </a:t>
            </a:r>
          </a:p>
          <a:p>
            <a:pPr marL="457200" indent="-457200" algn="just">
              <a:buFontTx/>
              <a:buChar char="-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Inheritance</a:t>
            </a:r>
          </a:p>
          <a:p>
            <a:pPr marL="457200" indent="-457200" algn="just">
              <a:buFontTx/>
              <a:buChar char="-"/>
            </a:pPr>
            <a:r>
              <a:rPr lang="en-US" sz="2400" dirty="0">
                <a:cs typeface="Arial" panose="020B0604020202020204" pitchFamily="34" charset="0"/>
              </a:rPr>
              <a:t>Polymorphism</a:t>
            </a:r>
          </a:p>
          <a:p>
            <a:pPr marL="457200" indent="-457200" algn="just">
              <a:buFontTx/>
              <a:buChar char="-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Abstraction</a:t>
            </a:r>
          </a:p>
          <a:p>
            <a:pPr marL="457200" indent="-457200" algn="just">
              <a:buFontTx/>
              <a:buChar char="-"/>
            </a:pPr>
            <a:r>
              <a:rPr lang="en-US" sz="2400" dirty="0">
                <a:cs typeface="Arial" panose="020B0604020202020204" pitchFamily="34" charset="0"/>
              </a:rPr>
              <a:t>Encapsulation</a:t>
            </a: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253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Concept of Classes and Objects</a:t>
            </a:r>
            <a:endParaRPr lang="en-GB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98EA1-72D0-24D1-8C88-0D66353C0D61}"/>
              </a:ext>
            </a:extLst>
          </p:cNvPr>
          <p:cNvSpPr txBox="1"/>
          <p:nvPr/>
        </p:nvSpPr>
        <p:spPr>
          <a:xfrm>
            <a:off x="312316" y="1820116"/>
            <a:ext cx="3980284" cy="3046988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Class and Object: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cs typeface="Arial" panose="020B0604020202020204" pitchFamily="34" charset="0"/>
              </a:rPr>
              <a:t>Class is a blueprint for creating objects (defines attributes and methods) </a:t>
            </a:r>
          </a:p>
          <a:p>
            <a:pPr marL="342900" indent="-342900" algn="just">
              <a:buFontTx/>
              <a:buChar char="-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en-US" sz="2400" dirty="0">
                <a:cs typeface="Arial" panose="020B0604020202020204" pitchFamily="34" charset="0"/>
              </a:rPr>
              <a:t>An object is an instance of a class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6C93C-05FC-1A5E-BCDD-033F6D3CB5F2}"/>
              </a:ext>
            </a:extLst>
          </p:cNvPr>
          <p:cNvSpPr txBox="1"/>
          <p:nvPr/>
        </p:nvSpPr>
        <p:spPr>
          <a:xfrm>
            <a:off x="4361284" y="1954474"/>
            <a:ext cx="4572000" cy="3139321"/>
          </a:xfrm>
          <a:prstGeom prst="rect">
            <a:avLst/>
          </a:prstGeom>
          <a:noFill/>
          <a:ln w="12700">
            <a:gradFill>
              <a:gsLst>
                <a:gs pos="0">
                  <a:schemeClr val="tx1"/>
                </a:gs>
                <a:gs pos="98000">
                  <a:srgbClr val="DB342A"/>
                </a:gs>
              </a:gsLst>
              <a:lin ang="6000000" scaled="0"/>
            </a:gradFill>
            <a:miter lim="800000"/>
          </a:ln>
        </p:spPr>
        <p:txBody>
          <a:bodyPr wrap="square">
            <a:spAutoFit/>
          </a:bodyPr>
          <a:lstStyle/>
          <a:p>
            <a:r>
              <a:rPr lang="en-US" dirty="0"/>
              <a:t>class Car:  </a:t>
            </a:r>
          </a:p>
          <a:p>
            <a:r>
              <a:rPr lang="en-US" dirty="0"/>
              <a:t>    def __init__(self, brand, model):  </a:t>
            </a:r>
          </a:p>
          <a:p>
            <a:r>
              <a:rPr lang="en-US" dirty="0"/>
              <a:t>        </a:t>
            </a:r>
            <a:r>
              <a:rPr lang="en-US" dirty="0" err="1"/>
              <a:t>self.brand</a:t>
            </a:r>
            <a:r>
              <a:rPr lang="en-US" dirty="0"/>
              <a:t> = brand  # Attribute  </a:t>
            </a:r>
          </a:p>
          <a:p>
            <a:r>
              <a:rPr lang="en-US" dirty="0"/>
              <a:t>        </a:t>
            </a:r>
            <a:r>
              <a:rPr lang="en-US" dirty="0" err="1"/>
              <a:t>self.model</a:t>
            </a:r>
            <a:r>
              <a:rPr lang="en-US" dirty="0"/>
              <a:t> = model  </a:t>
            </a:r>
          </a:p>
          <a:p>
            <a:endParaRPr lang="en-US" dirty="0"/>
          </a:p>
          <a:p>
            <a:r>
              <a:rPr lang="en-US" dirty="0"/>
              <a:t>    def </a:t>
            </a:r>
            <a:r>
              <a:rPr lang="en-US" dirty="0" err="1"/>
              <a:t>display_info</a:t>
            </a:r>
            <a:r>
              <a:rPr lang="en-US" dirty="0"/>
              <a:t>(self):  # Method  </a:t>
            </a:r>
          </a:p>
          <a:p>
            <a:r>
              <a:rPr lang="en-US" dirty="0"/>
              <a:t>        print(f"{</a:t>
            </a:r>
            <a:r>
              <a:rPr lang="en-US" dirty="0" err="1"/>
              <a:t>self.brand</a:t>
            </a:r>
            <a:r>
              <a:rPr lang="en-US" dirty="0"/>
              <a:t>} {</a:t>
            </a:r>
            <a:r>
              <a:rPr lang="en-US" dirty="0" err="1"/>
              <a:t>self.model</a:t>
            </a:r>
            <a:r>
              <a:rPr lang="en-US" dirty="0"/>
              <a:t>}")  </a:t>
            </a:r>
          </a:p>
          <a:p>
            <a:endParaRPr lang="en-US" dirty="0"/>
          </a:p>
          <a:p>
            <a:r>
              <a:rPr lang="en-US" dirty="0"/>
              <a:t># Creating an object  </a:t>
            </a:r>
          </a:p>
          <a:p>
            <a:r>
              <a:rPr lang="en-US" dirty="0"/>
              <a:t>my_car = Car("Toyota", "Corolla")  </a:t>
            </a:r>
          </a:p>
          <a:p>
            <a:r>
              <a:rPr lang="en-US" dirty="0" err="1"/>
              <a:t>my_car.display_info</a:t>
            </a:r>
            <a:r>
              <a:rPr lang="en-US" dirty="0"/>
              <a:t>()  # Output: Toyota Corolla </a:t>
            </a:r>
          </a:p>
        </p:txBody>
      </p:sp>
    </p:spTree>
    <p:extLst>
      <p:ext uri="{BB962C8B-B14F-4D97-AF65-F5344CB8AC3E}">
        <p14:creationId xmlns:p14="http://schemas.microsoft.com/office/powerpoint/2010/main" val="626031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/>
              <a:t>Concept of Inheritance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B2931-9FEE-C5F2-C589-B6A85BDCD584}"/>
              </a:ext>
            </a:extLst>
          </p:cNvPr>
          <p:cNvSpPr txBox="1"/>
          <p:nvPr/>
        </p:nvSpPr>
        <p:spPr>
          <a:xfrm>
            <a:off x="111967" y="1820116"/>
            <a:ext cx="4203700" cy="4247317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Inheritance is a fundamental OOP concept where a </a:t>
            </a:r>
            <a:r>
              <a:rPr lang="en-US" sz="22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child class (subclass) </a:t>
            </a:r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inherits attributes and methods from a </a:t>
            </a:r>
            <a:r>
              <a:rPr lang="en-US" sz="22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parent class (superclass).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2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cs typeface="Arial" panose="020B0604020202020204" pitchFamily="34" charset="0"/>
              </a:rPr>
              <a:t>Inheritance establishes an </a:t>
            </a:r>
            <a:r>
              <a:rPr lang="en-US" sz="2200" b="1" dirty="0">
                <a:cs typeface="Arial" panose="020B0604020202020204" pitchFamily="34" charset="0"/>
              </a:rPr>
              <a:t>“is-a” </a:t>
            </a:r>
            <a:r>
              <a:rPr lang="en-US" sz="2200" dirty="0">
                <a:cs typeface="Arial" panose="020B0604020202020204" pitchFamily="34" charset="0"/>
              </a:rPr>
              <a:t>relationship (e.g., a </a:t>
            </a:r>
            <a:r>
              <a:rPr lang="en-US" sz="2200" b="1" dirty="0">
                <a:cs typeface="Arial" panose="020B0604020202020204" pitchFamily="34" charset="0"/>
              </a:rPr>
              <a:t>Car </a:t>
            </a:r>
            <a:r>
              <a:rPr lang="en-US" sz="2200" dirty="0">
                <a:cs typeface="Arial" panose="020B0604020202020204" pitchFamily="34" charset="0"/>
              </a:rPr>
              <a:t>is a Vehicle) and prompts: </a:t>
            </a:r>
          </a:p>
          <a:p>
            <a:pPr algn="just"/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	- Code Reuse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Hierarchical Organisation </a:t>
            </a:r>
          </a:p>
          <a:p>
            <a:pPr algn="just"/>
            <a:r>
              <a:rPr lang="en-US" sz="22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	- Polymorphism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D2EAD-0B0F-1854-5FAD-7CE9A4E77A77}"/>
              </a:ext>
            </a:extLst>
          </p:cNvPr>
          <p:cNvSpPr txBox="1"/>
          <p:nvPr/>
        </p:nvSpPr>
        <p:spPr>
          <a:xfrm>
            <a:off x="4315667" y="1820115"/>
            <a:ext cx="4716366" cy="5093702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cs typeface="Arial" panose="020B0604020202020204" pitchFamily="34" charset="0"/>
              </a:rPr>
              <a:t>How Inheritance Works? </a:t>
            </a: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class Vehicle:  # Parent class</a:t>
            </a: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   def __init__(self, brand):</a:t>
            </a: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       </a:t>
            </a:r>
            <a:r>
              <a:rPr lang="en-US" sz="1500" cap="none" spc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self.brand</a:t>
            </a:r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= brand</a:t>
            </a:r>
          </a:p>
          <a:p>
            <a:pPr lvl="1" algn="just"/>
            <a:endParaRPr lang="en-US" sz="15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   def </a:t>
            </a:r>
            <a:r>
              <a:rPr lang="en-US" sz="1500" cap="none" spc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start_engine</a:t>
            </a:r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(self):</a:t>
            </a: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       print("Engine started!")</a:t>
            </a:r>
          </a:p>
          <a:p>
            <a:pPr lvl="1" algn="just"/>
            <a:endParaRPr lang="en-US" sz="15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class Car(Vehicle):  # Child class (inherits from Vehicle)</a:t>
            </a: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   def __init__(self, brand, model):</a:t>
            </a: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       super().__init__(brand)  # Calls parent's __init__</a:t>
            </a: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       </a:t>
            </a:r>
            <a:r>
              <a:rPr lang="en-US" sz="1500" cap="none" spc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self.model</a:t>
            </a:r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= model</a:t>
            </a:r>
          </a:p>
          <a:p>
            <a:pPr lvl="1" algn="just"/>
            <a:endParaRPr lang="en-US" sz="15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# Usage</a:t>
            </a:r>
          </a:p>
          <a:p>
            <a:pPr lvl="1" algn="just"/>
            <a:r>
              <a:rPr lang="en-US" sz="1500" cap="none" spc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my_car</a:t>
            </a:r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= Car("Tesla", "Model S")</a:t>
            </a:r>
          </a:p>
          <a:p>
            <a:pPr lvl="1" algn="just"/>
            <a:r>
              <a:rPr lang="en-US" sz="1500" cap="none" spc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my_car.start_engine</a:t>
            </a:r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()  # Inherited method</a:t>
            </a:r>
          </a:p>
          <a:p>
            <a:pPr lvl="1" algn="just"/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print(</a:t>
            </a:r>
            <a:r>
              <a:rPr lang="en-US" sz="1500" cap="none" spc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my_car.brand</a:t>
            </a:r>
            <a:r>
              <a:rPr lang="en-US" sz="15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)    # Inherited attribute</a:t>
            </a:r>
            <a:endParaRPr lang="en-US" sz="2200" b="1" dirty="0">
              <a:cs typeface="Arial" panose="020B0604020202020204" pitchFamily="34" charset="0"/>
            </a:endParaRPr>
          </a:p>
          <a:p>
            <a:pPr algn="just"/>
            <a:endParaRPr lang="en-US" sz="1600" b="1" dirty="0">
              <a:cs typeface="Arial" panose="020B0604020202020204" pitchFamily="34" charset="0"/>
            </a:endParaRPr>
          </a:p>
          <a:p>
            <a:pPr algn="just"/>
            <a:r>
              <a:rPr lang="en-US" sz="1600" b="1" dirty="0">
                <a:cs typeface="Arial" panose="020B0604020202020204" pitchFamily="34" charset="0"/>
              </a:rPr>
              <a:t>Output: </a:t>
            </a:r>
            <a:r>
              <a:rPr lang="en-US" sz="1600" dirty="0">
                <a:cs typeface="Arial" panose="020B0604020202020204" pitchFamily="34" charset="0"/>
              </a:rPr>
              <a:t>Engine started! </a:t>
            </a:r>
          </a:p>
          <a:p>
            <a:pPr algn="just"/>
            <a:r>
              <a:rPr lang="en-US" sz="1600" dirty="0">
                <a:cs typeface="Arial" panose="020B0604020202020204" pitchFamily="34" charset="0"/>
              </a:rPr>
              <a:t>	Tesla</a:t>
            </a:r>
            <a:endParaRPr lang="en-US" sz="16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58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Concepts of Polymorphism &amp; Abstraction</a:t>
            </a:r>
            <a:endParaRPr lang="en-GB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C3C47-3304-FF26-56CB-8B3F1906EC9A}"/>
              </a:ext>
            </a:extLst>
          </p:cNvPr>
          <p:cNvSpPr txBox="1"/>
          <p:nvPr/>
        </p:nvSpPr>
        <p:spPr>
          <a:xfrm>
            <a:off x="312316" y="1820116"/>
            <a:ext cx="3980284" cy="3785652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Polymorphism (Many Forms):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cs typeface="Arial" panose="020B0604020202020204" pitchFamily="34" charset="0"/>
              </a:rPr>
              <a:t>The ability to different classes to respond to the same method call in different ways.</a:t>
            </a:r>
          </a:p>
          <a:p>
            <a:pPr marL="342900" indent="-342900" algn="just">
              <a:buFontTx/>
              <a:buChar char="-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en-US" sz="2400" dirty="0">
                <a:cs typeface="Arial" panose="020B0604020202020204" pitchFamily="34" charset="0"/>
              </a:rPr>
              <a:t>Achieved via method overriding and method overloading.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85CD0-5213-5349-75B1-0517E2E94AE5}"/>
              </a:ext>
            </a:extLst>
          </p:cNvPr>
          <p:cNvSpPr txBox="1"/>
          <p:nvPr/>
        </p:nvSpPr>
        <p:spPr>
          <a:xfrm>
            <a:off x="4419600" y="1810879"/>
            <a:ext cx="3980284" cy="3416320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Abstraction (Hide complexity):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cs typeface="Arial" panose="020B0604020202020204" pitchFamily="34" charset="0"/>
              </a:rPr>
              <a:t>Hiding complex implementation details and showing only essential features. </a:t>
            </a:r>
          </a:p>
          <a:p>
            <a:pPr marL="342900" indent="-342900" algn="just">
              <a:buFontTx/>
              <a:buChar char="-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en-US" sz="2400" dirty="0">
                <a:cs typeface="Arial" panose="020B0604020202020204" pitchFamily="34" charset="0"/>
              </a:rPr>
              <a:t>Achieved using abstract classes and interfaces.</a:t>
            </a:r>
          </a:p>
        </p:txBody>
      </p:sp>
    </p:spTree>
    <p:extLst>
      <p:ext uri="{BB962C8B-B14F-4D97-AF65-F5344CB8AC3E}">
        <p14:creationId xmlns:p14="http://schemas.microsoft.com/office/powerpoint/2010/main" val="3270191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Concepts of Encapsulation</a:t>
            </a:r>
            <a:endParaRPr lang="en-GB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76F21-9F0A-37F4-09FB-0D2EE3EDCBBD}"/>
              </a:ext>
            </a:extLst>
          </p:cNvPr>
          <p:cNvSpPr txBox="1"/>
          <p:nvPr/>
        </p:nvSpPr>
        <p:spPr>
          <a:xfrm>
            <a:off x="312316" y="1820116"/>
            <a:ext cx="3980284" cy="4154984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Encapsulation (Data Hiding):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cs typeface="Arial" panose="020B0604020202020204" pitchFamily="34" charset="0"/>
              </a:rPr>
              <a:t>Bundling data (attributes) and methods that operate on the data into a single unit (class).</a:t>
            </a:r>
          </a:p>
          <a:p>
            <a:pPr marL="342900" indent="-342900" algn="just">
              <a:buFontTx/>
              <a:buChar char="-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en-US" sz="2400" dirty="0">
                <a:cs typeface="Arial" panose="020B0604020202020204" pitchFamily="34" charset="0"/>
              </a:rPr>
              <a:t>Restricts direct access to some components (using private or protected access modifiers)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70B5B-C777-B904-F043-9FE9335EB9CA}"/>
              </a:ext>
            </a:extLst>
          </p:cNvPr>
          <p:cNvSpPr txBox="1"/>
          <p:nvPr/>
        </p:nvSpPr>
        <p:spPr>
          <a:xfrm>
            <a:off x="4442691" y="1820116"/>
            <a:ext cx="4572000" cy="4247317"/>
          </a:xfrm>
          <a:prstGeom prst="rect">
            <a:avLst/>
          </a:prstGeom>
          <a:noFill/>
          <a:ln w="6350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dirty="0"/>
              <a:t>class BankAccount:  </a:t>
            </a:r>
          </a:p>
          <a:p>
            <a:r>
              <a:rPr lang="en-US" dirty="0"/>
              <a:t>    def __init__(self, balance):  </a:t>
            </a:r>
          </a:p>
          <a:p>
            <a:r>
              <a:rPr lang="en-US" dirty="0"/>
              <a:t>        self.__balance = balance  # Private attribute  </a:t>
            </a:r>
          </a:p>
          <a:p>
            <a:endParaRPr lang="en-US" dirty="0"/>
          </a:p>
          <a:p>
            <a:r>
              <a:rPr lang="en-US" dirty="0"/>
              <a:t>    def deposit(self, amount):  </a:t>
            </a:r>
          </a:p>
          <a:p>
            <a:r>
              <a:rPr lang="en-US" dirty="0"/>
              <a:t>        self.__balance += amount  </a:t>
            </a:r>
          </a:p>
          <a:p>
            <a:endParaRPr lang="en-US" dirty="0"/>
          </a:p>
          <a:p>
            <a:r>
              <a:rPr lang="en-US" dirty="0"/>
              <a:t>    def </a:t>
            </a:r>
            <a:r>
              <a:rPr lang="en-US" dirty="0" err="1"/>
              <a:t>get_balance</a:t>
            </a:r>
            <a:r>
              <a:rPr lang="en-US" dirty="0"/>
              <a:t>(self):  # Getter method  </a:t>
            </a:r>
          </a:p>
          <a:p>
            <a:r>
              <a:rPr lang="en-US" dirty="0"/>
              <a:t>        return self.__balance  </a:t>
            </a:r>
          </a:p>
          <a:p>
            <a:endParaRPr lang="en-US" dirty="0"/>
          </a:p>
          <a:p>
            <a:r>
              <a:rPr lang="en-US" dirty="0"/>
              <a:t>account = BankAccount(1000)  </a:t>
            </a:r>
          </a:p>
          <a:p>
            <a:r>
              <a:rPr lang="en-US" dirty="0" err="1"/>
              <a:t>account.deposit</a:t>
            </a:r>
            <a:r>
              <a:rPr lang="en-US" dirty="0"/>
              <a:t>(500)  </a:t>
            </a:r>
          </a:p>
          <a:p>
            <a:r>
              <a:rPr lang="en-US" dirty="0"/>
              <a:t>print(</a:t>
            </a:r>
            <a:r>
              <a:rPr lang="en-US" dirty="0" err="1"/>
              <a:t>account.get_balance</a:t>
            </a:r>
            <a:r>
              <a:rPr lang="en-US" dirty="0"/>
              <a:t>())  # Output: 1500  </a:t>
            </a:r>
          </a:p>
          <a:p>
            <a:r>
              <a:rPr lang="en-US" dirty="0"/>
              <a:t># account.__balance  # Error (private attribute) </a:t>
            </a:r>
          </a:p>
        </p:txBody>
      </p:sp>
    </p:spTree>
    <p:extLst>
      <p:ext uri="{BB962C8B-B14F-4D97-AF65-F5344CB8AC3E}">
        <p14:creationId xmlns:p14="http://schemas.microsoft.com/office/powerpoint/2010/main" val="489533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B9F8-97B5-41F4-940B-2C90CDE2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69552"/>
            <a:ext cx="7886700" cy="52146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Seminar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B87C2-6C36-4450-BB88-D0EDC2531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6255" y="2498001"/>
            <a:ext cx="8707745" cy="9309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2000" b="0" i="0" dirty="0">
                <a:effectLst/>
                <a:latin typeface="+mn-lt"/>
              </a:rPr>
              <a:t>Create a class hierarchy for a simple vehicle management system (e.g., Vehicle as a base class, with subclasses like Car, Bike, and Truck).</a:t>
            </a:r>
          </a:p>
          <a:p>
            <a:pPr marL="0" indent="0" algn="just">
              <a:buNone/>
            </a:pPr>
            <a:endParaRPr lang="en-GB" sz="2000" dirty="0">
              <a:latin typeface="+mn-lt"/>
            </a:endParaRPr>
          </a:p>
          <a:p>
            <a:pPr marL="0" indent="0" algn="ctr">
              <a:buNone/>
            </a:pPr>
            <a:r>
              <a:rPr lang="en-GB" sz="2000" b="0" i="0" dirty="0">
                <a:effectLst/>
                <a:latin typeface="+mn-lt"/>
              </a:rPr>
              <a:t>The Python code will be shared through the announcement! </a:t>
            </a:r>
          </a:p>
        </p:txBody>
      </p:sp>
    </p:spTree>
    <p:extLst>
      <p:ext uri="{BB962C8B-B14F-4D97-AF65-F5344CB8AC3E}">
        <p14:creationId xmlns:p14="http://schemas.microsoft.com/office/powerpoint/2010/main" val="2094098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B9F8-97B5-41F4-940B-2C90CDE2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Reference!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1A162-AA81-7AFF-7A85-CE68F91D44E0}"/>
              </a:ext>
            </a:extLst>
          </p:cNvPr>
          <p:cNvSpPr txBox="1"/>
          <p:nvPr/>
        </p:nvSpPr>
        <p:spPr>
          <a:xfrm>
            <a:off x="404160" y="2203605"/>
            <a:ext cx="8335680" cy="369332"/>
          </a:xfrm>
          <a:prstGeom prst="rect">
            <a:avLst/>
          </a:prstGeom>
          <a:noFill/>
          <a:ln w="6350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GB" b="0" i="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40822-FDEB-0CEB-4784-51ED5A04F746}"/>
              </a:ext>
            </a:extLst>
          </p:cNvPr>
          <p:cNvSpPr txBox="1"/>
          <p:nvPr/>
        </p:nvSpPr>
        <p:spPr>
          <a:xfrm>
            <a:off x="265395" y="1691014"/>
            <a:ext cx="8613209" cy="4851841"/>
          </a:xfrm>
          <a:prstGeom prst="rect">
            <a:avLst/>
          </a:prstGeom>
          <a:noFill/>
          <a:ln w="63500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V.M. Hariharan et al. (2023) </a:t>
            </a:r>
            <a:r>
              <a:rPr lang="en-GB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Programming by Pearson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Pearson India. 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https://learning.oreilly.com/library/view/python-programming-by/9789357053303/?sso_link=yes&amp;sso_link_from=university-of-essex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Matthes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(2023) </a:t>
            </a:r>
            <a:r>
              <a:rPr lang="en-GB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Crash Course: A Hands-On, Project-Based Introduction to Programming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3rd Edition. New York: No Starch Press. 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GB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learning.oreilly.com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/library/view/python-crash-course/9781098156664/p01.xhtml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Lott, S. F. &amp; Phillips, D. (2021) </a:t>
            </a:r>
            <a:r>
              <a:rPr lang="en-GB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Object-Oriented Programming: Build Robust and Maintainable Object-Oriented Python Applications and Libraries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Fourth edition. Birmingham: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Publishing, Limited. 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https://ebookcentral.proquest.com/lib/universityofessex-ebooks/detail.action?docID=6680969&amp;pq-origsite=primo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Kalb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(2022) </a:t>
            </a:r>
            <a:r>
              <a:rPr lang="en-GB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Object-Oriented Python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No Starch Press. 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GB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learning.oreilly.com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/library/view/object-oriented-python/9781098129842/?</a:t>
            </a:r>
            <a:r>
              <a:rPr lang="en-GB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sso_link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GB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yes&amp;sso_link_from</a:t>
            </a:r>
            <a:r>
              <a:rPr lang="en-GB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=university-of-</a:t>
            </a:r>
            <a:r>
              <a:rPr lang="en-GB" sz="1800" u="sng" dirty="0" err="1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essex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6049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63500">
          <a:gradFill>
            <a:gsLst>
              <a:gs pos="0">
                <a:srgbClr val="4D1451">
                  <a:lumMod val="90000"/>
                  <a:lumOff val="10000"/>
                </a:srgbClr>
              </a:gs>
              <a:gs pos="98000">
                <a:srgbClr val="DB342A"/>
              </a:gs>
            </a:gsLst>
            <a:lin ang="6000000" scaled="0"/>
          </a:gradFill>
          <a:miter lim="800000"/>
        </a:ln>
      </a:spPr>
      <a:bodyPr wrap="square" rtlCol="0">
        <a:spAutoFit/>
      </a:bodyPr>
      <a:lstStyle>
        <a:defPPr marL="0" indent="0" algn="l">
          <a:buNone/>
          <a:defRPr sz="2800" cap="none" spc="0" dirty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2CC8FA352E2849A9FD47BBFF2D1BA4" ma:contentTypeVersion="8" ma:contentTypeDescription="Create a new document." ma:contentTypeScope="" ma:versionID="608c2774b8c42faa26094739c4dbc861">
  <xsd:schema xmlns:xsd="http://www.w3.org/2001/XMLSchema" xmlns:xs="http://www.w3.org/2001/XMLSchema" xmlns:p="http://schemas.microsoft.com/office/2006/metadata/properties" xmlns:ns2="4f8a9c07-6fb1-4933-95cf-e7ea8c347c2b" xmlns:ns3="4e761da8-9904-41c4-abaf-432f876ad523" targetNamespace="http://schemas.microsoft.com/office/2006/metadata/properties" ma:root="true" ma:fieldsID="726213bbd9a9d5fb1736dc486409d040" ns2:_="" ns3:_="">
    <xsd:import namespace="4f8a9c07-6fb1-4933-95cf-e7ea8c347c2b"/>
    <xsd:import namespace="4e761da8-9904-41c4-abaf-432f876ad5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8a9c07-6fb1-4933-95cf-e7ea8c347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761da8-9904-41c4-abaf-432f876ad52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221FE4-A2B4-440C-B0A6-D7D147162A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8a9c07-6fb1-4933-95cf-e7ea8c347c2b"/>
    <ds:schemaRef ds:uri="4e761da8-9904-41c4-abaf-432f876ad5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37D29E-431F-4655-8486-FF6A056428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732F2D-535B-489C-826D-1EBB17CFBC6F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4e761da8-9904-41c4-abaf-432f876ad523"/>
    <ds:schemaRef ds:uri="4f8a9c07-6fb1-4933-95cf-e7ea8c347c2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1082</Words>
  <Application>Microsoft Office PowerPoint</Application>
  <PresentationFormat>On-screen Show (4:3)</PresentationFormat>
  <Paragraphs>122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akzidenz-grotesk</vt:lpstr>
      <vt:lpstr>Arial</vt:lpstr>
      <vt:lpstr>Calibri</vt:lpstr>
      <vt:lpstr>Wingdings</vt:lpstr>
      <vt:lpstr>1_Custom Design</vt:lpstr>
      <vt:lpstr>  Advanced Object – Oriented Design &amp;Programming (AOODP)  Seminar – 1: Unit 1 Introduction and Recap of Object-Oriented Programming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Seminar Task</vt:lpstr>
      <vt:lpstr>Reference!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Brazier, Suzanne C</dc:creator>
  <cp:lastModifiedBy>Anupam Mazumdar</cp:lastModifiedBy>
  <cp:revision>120</cp:revision>
  <dcterms:created xsi:type="dcterms:W3CDTF">2019-05-01T15:27:08Z</dcterms:created>
  <dcterms:modified xsi:type="dcterms:W3CDTF">2025-10-24T10:43:35Z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0x010100F92CC8FA352E2849A9FD47BBFF2D1BA4</vt:lpwstr>
  </property>
</Properties>
</file>