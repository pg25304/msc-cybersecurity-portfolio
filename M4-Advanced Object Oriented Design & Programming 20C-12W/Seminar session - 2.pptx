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sldIdLst>
    <p:sldId id="256" r:id="rId5"/>
    <p:sldId id="274" r:id="rId6"/>
    <p:sldId id="348" r:id="rId7"/>
    <p:sldId id="349" r:id="rId8"/>
    <p:sldId id="300" r:id="rId9"/>
    <p:sldId id="336" r:id="rId10"/>
    <p:sldId id="331" r:id="rId11"/>
    <p:sldId id="344" r:id="rId12"/>
    <p:sldId id="343" r:id="rId13"/>
    <p:sldId id="335" r:id="rId14"/>
    <p:sldId id="345" r:id="rId15"/>
    <p:sldId id="346" r:id="rId16"/>
    <p:sldId id="347" r:id="rId17"/>
    <p:sldId id="308" r:id="rId18"/>
    <p:sldId id="306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waz Khan" initials="NK" lastIdx="1" clrIdx="0">
    <p:extLst>
      <p:ext uri="{19B8F6BF-5375-455C-9EA6-DF929625EA0E}">
        <p15:presenceInfo xmlns:p15="http://schemas.microsoft.com/office/powerpoint/2012/main" userId="a0de5fb5e07edf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03D2FE-A0E8-4022-9F48-68E864AB8262}" v="1" dt="2025-10-31T14:20:40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392" autoAdjust="0"/>
    <p:restoredTop sz="94692"/>
  </p:normalViewPr>
  <p:slideViewPr>
    <p:cSldViewPr snapToGrid="0" snapToObjects="1">
      <p:cViewPr varScale="1">
        <p:scale>
          <a:sx n="104" d="100"/>
          <a:sy n="10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m Mazumdar" userId="c87ce139-0231-4c89-a3e2-4d619aba2c0a" providerId="ADAL" clId="{BED016B1-B1E2-43E1-A585-A1EEAEC4C845}"/>
    <pc:docChg chg="addSld delSld modSld">
      <pc:chgData name="Anupam Mazumdar" userId="c87ce139-0231-4c89-a3e2-4d619aba2c0a" providerId="ADAL" clId="{BED016B1-B1E2-43E1-A585-A1EEAEC4C845}" dt="2025-10-31T14:29:12.682" v="15" actId="20577"/>
      <pc:docMkLst>
        <pc:docMk/>
      </pc:docMkLst>
      <pc:sldChg chg="modSp mod">
        <pc:chgData name="Anupam Mazumdar" userId="c87ce139-0231-4c89-a3e2-4d619aba2c0a" providerId="ADAL" clId="{BED016B1-B1E2-43E1-A585-A1EEAEC4C845}" dt="2025-10-31T14:29:12.682" v="15" actId="20577"/>
        <pc:sldMkLst>
          <pc:docMk/>
          <pc:sldMk cId="2541132132" sldId="256"/>
        </pc:sldMkLst>
        <pc:spChg chg="mod">
          <ac:chgData name="Anupam Mazumdar" userId="c87ce139-0231-4c89-a3e2-4d619aba2c0a" providerId="ADAL" clId="{BED016B1-B1E2-43E1-A585-A1EEAEC4C845}" dt="2025-10-31T14:29:00.293" v="12" actId="20577"/>
          <ac:spMkLst>
            <pc:docMk/>
            <pc:sldMk cId="2541132132" sldId="256"/>
            <ac:spMk id="2" creationId="{5EA4D0C1-3C69-1E4C-9552-4C78481C0140}"/>
          </ac:spMkLst>
        </pc:spChg>
        <pc:spChg chg="mod">
          <ac:chgData name="Anupam Mazumdar" userId="c87ce139-0231-4c89-a3e2-4d619aba2c0a" providerId="ADAL" clId="{BED016B1-B1E2-43E1-A585-A1EEAEC4C845}" dt="2025-10-31T14:29:12.682" v="15" actId="20577"/>
          <ac:spMkLst>
            <pc:docMk/>
            <pc:sldMk cId="2541132132" sldId="256"/>
            <ac:spMk id="3" creationId="{68513017-27F3-46F5-BBCE-BF9CE7B1132B}"/>
          </ac:spMkLst>
        </pc:spChg>
      </pc:sldChg>
      <pc:sldChg chg="del">
        <pc:chgData name="Anupam Mazumdar" userId="c87ce139-0231-4c89-a3e2-4d619aba2c0a" providerId="ADAL" clId="{BED016B1-B1E2-43E1-A585-A1EEAEC4C845}" dt="2025-10-31T14:20:49.970" v="1" actId="47"/>
        <pc:sldMkLst>
          <pc:docMk/>
          <pc:sldMk cId="1094009881" sldId="297"/>
        </pc:sldMkLst>
      </pc:sldChg>
      <pc:sldChg chg="del">
        <pc:chgData name="Anupam Mazumdar" userId="c87ce139-0231-4c89-a3e2-4d619aba2c0a" providerId="ADAL" clId="{BED016B1-B1E2-43E1-A585-A1EEAEC4C845}" dt="2025-10-31T14:20:51.779" v="2" actId="47"/>
        <pc:sldMkLst>
          <pc:docMk/>
          <pc:sldMk cId="4015066348" sldId="298"/>
        </pc:sldMkLst>
      </pc:sldChg>
      <pc:sldChg chg="add">
        <pc:chgData name="Anupam Mazumdar" userId="c87ce139-0231-4c89-a3e2-4d619aba2c0a" providerId="ADAL" clId="{BED016B1-B1E2-43E1-A585-A1EEAEC4C845}" dt="2025-10-31T14:20:40.326" v="0"/>
        <pc:sldMkLst>
          <pc:docMk/>
          <pc:sldMk cId="3113564285" sldId="348"/>
        </pc:sldMkLst>
      </pc:sldChg>
      <pc:sldChg chg="add">
        <pc:chgData name="Anupam Mazumdar" userId="c87ce139-0231-4c89-a3e2-4d619aba2c0a" providerId="ADAL" clId="{BED016B1-B1E2-43E1-A585-A1EEAEC4C845}" dt="2025-10-31T14:20:40.326" v="0"/>
        <pc:sldMkLst>
          <pc:docMk/>
          <pc:sldMk cId="835730314" sldId="34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E53945-D35A-42DA-BE92-A93558FE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608"/>
            <a:ext cx="9142570" cy="6856392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B4B624-5098-4F9B-9DF1-1ED249FA1B9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3590" y="4059231"/>
            <a:ext cx="7894002" cy="609796"/>
          </a:xfrm>
        </p:spPr>
        <p:txBody>
          <a:bodyPr anchor="t">
            <a:noAutofit/>
          </a:bodyPr>
          <a:lstStyle>
            <a:lvl1pPr marL="0" indent="0" algn="ctr">
              <a:buNone/>
              <a:defRPr sz="4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Sub-title or speaker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D8BA8A6-2B14-4932-8E99-0BCD60256A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0891" y="2719094"/>
            <a:ext cx="7886700" cy="1117800"/>
          </a:xfrm>
        </p:spPr>
        <p:txBody>
          <a:bodyPr>
            <a:noAutofit/>
          </a:bodyPr>
          <a:lstStyle>
            <a:lvl1pPr>
              <a:defRPr sz="104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331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 with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99C793-7AC9-4757-9914-6FBAC39A0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BC39D7E-A97E-4BB4-9D19-B3694BB7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C1FB83-3EB8-484C-BD46-C79855472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4"/>
            <a:ext cx="7886700" cy="478974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69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035A14-D597-4506-9048-382F6C3B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89973"/>
            <a:ext cx="7886700" cy="5425401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158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9DF49-43C4-4065-AC6A-A9CEB9484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4"/>
            <a:ext cx="3867150" cy="478974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D98FF-11E9-4AAD-88A6-2B08ECEFA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4"/>
            <a:ext cx="3867150" cy="4789749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CDF5C6-30DB-4505-B876-4C90E94ADE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FB99D4-759B-46BF-91F0-548C9A534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777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8EC47-221B-4789-B7F9-BCD6D2CC5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895279"/>
            <a:ext cx="3868737" cy="609796"/>
          </a:xfrm>
        </p:spPr>
        <p:txBody>
          <a:bodyPr anchor="t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B5446-397F-487C-8394-43B14116D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4"/>
            <a:ext cx="3868737" cy="411029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A5EC4-410E-4804-9237-D4F941EA7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895279"/>
            <a:ext cx="3887788" cy="609796"/>
          </a:xfrm>
        </p:spPr>
        <p:txBody>
          <a:bodyPr anchor="t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BEE6D6-DF48-49D8-903C-2DD486BC2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4"/>
            <a:ext cx="3887788" cy="411029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73A1A1-33D8-4F50-AB33-E280C32D8D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F690690-42D6-4203-BA5D-A5D7D3C1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421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F9D21-C506-435F-B055-16AF403BA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2049462"/>
            <a:ext cx="4629150" cy="456591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 marL="1600200" indent="-228600">
              <a:buFont typeface="Wingdings" panose="05000000000000000000" pitchFamily="2" charset="2"/>
              <a:buChar char="§"/>
              <a:defRPr sz="1800"/>
            </a:lvl4pPr>
            <a:lvl5pPr marL="2057400" indent="-228600">
              <a:buFont typeface="Wingdings" panose="05000000000000000000" pitchFamily="2" charset="2"/>
              <a:buChar char="§"/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03A33-8131-467D-B50F-4EE3EE498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4565912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390FC3-3DC2-4EE6-A8E6-7A2C2DC6C3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26EBCA-CB6D-4447-BEE7-EB92812E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02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F9D21-C506-435F-B055-16AF403BA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38" y="2057400"/>
            <a:ext cx="4629150" cy="456591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 marL="1600200" indent="-228600">
              <a:buFont typeface="Wingdings" panose="05000000000000000000" pitchFamily="2" charset="2"/>
              <a:buChar char="§"/>
              <a:defRPr sz="1800"/>
            </a:lvl4pPr>
            <a:lvl5pPr marL="2057400" indent="-228600">
              <a:buFont typeface="Wingdings" panose="05000000000000000000" pitchFamily="2" charset="2"/>
              <a:buChar char="§"/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390FC3-3DC2-4EE6-A8E6-7A2C2DC6C3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26EBCA-CB6D-4447-BEE7-EB92812E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048D950-7CC0-458E-9C72-7F1D3D60F0DF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79889" y="2036936"/>
            <a:ext cx="2949575" cy="4565912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008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7DF5A-1D85-47E4-B730-5C5682024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2057400"/>
            <a:ext cx="4629150" cy="4557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641E7-ECCC-44F3-AF98-94E08DC2D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4557974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B280A4-E4E7-4E02-9A87-745C9528F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B336DFF-0B62-4F84-B219-82DA8B99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054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1FD28FB-E2D1-4631-8058-294B0927399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0345" y="2057400"/>
            <a:ext cx="4629150" cy="4557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641E7-ECCC-44F3-AF98-94E08DC2D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67363" y="2057400"/>
            <a:ext cx="2949575" cy="4557974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B280A4-E4E7-4E02-9A87-745C9528F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B336DFF-0B62-4F84-B219-82DA8B99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936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99C793-7AC9-4757-9914-6FBAC39A0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BC39D7E-A97E-4BB4-9D19-B3694BB7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1559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Onl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683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E53945-D35A-42DA-BE92-A93558FE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570" cy="685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65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5DD430-9727-C844-A598-26063C75DE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0" y="1609"/>
            <a:ext cx="9142570" cy="685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7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303D8D-0EDB-41F6-B4DB-CC4B5EE058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84129"/>
          <a:stretch/>
        </p:blipFill>
        <p:spPr>
          <a:xfrm>
            <a:off x="1430" y="1609"/>
            <a:ext cx="9142570" cy="108815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C6FBC-4483-4B5E-92A0-380E1891E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72488-DD78-470E-B80C-585120F7C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903956"/>
            <a:ext cx="7886700" cy="4711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87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82" r:id="rId2"/>
    <p:sldLayoutId id="2147483674" r:id="rId3"/>
    <p:sldLayoutId id="2147483671" r:id="rId4"/>
    <p:sldLayoutId id="2147483672" r:id="rId5"/>
    <p:sldLayoutId id="2147483675" r:id="rId6"/>
    <p:sldLayoutId id="2147483679" r:id="rId7"/>
    <p:sldLayoutId id="2147483676" r:id="rId8"/>
    <p:sldLayoutId id="2147483680" r:id="rId9"/>
    <p:sldLayoutId id="2147483673" r:id="rId10"/>
    <p:sldLayoutId id="2147483677" r:id="rId11"/>
    <p:sldLayoutId id="2147483681" r:id="rId12"/>
    <p:sldLayoutId id="214748368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upam.mazumdar@aspectworld.com" TargetMode="External"/><Relationship Id="rId2" Type="http://schemas.openxmlformats.org/officeDocument/2006/relationships/hyperlink" Target="mailto:anupam.mazumdar@kaplan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ssex.primo.exlibrisgroup.com/permalink/44UOES_INST/1h1udbn/cdi_askewsholts_vlebooks_9780138176471" TargetMode="External"/><Relationship Id="rId2" Type="http://schemas.openxmlformats.org/officeDocument/2006/relationships/hyperlink" Target="https://essex.primo.exlibrisgroup.com/permalink/44UOES_INST/ngp9lg/alma99100847053810734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sex.primo.exlibrisgroup.com/permalink/44UOES_INST/1h1udbn/cdi_elsevier_sciencedirect_doi_10_1016_j_jss_2024_112254" TargetMode="External"/><Relationship Id="rId5" Type="http://schemas.openxmlformats.org/officeDocument/2006/relationships/hyperlink" Target="https://essex.primo.exlibrisgroup.com/permalink/44UOES_INST/1h1udbn/cdi_perlego_books_4513941" TargetMode="External"/><Relationship Id="rId4" Type="http://schemas.openxmlformats.org/officeDocument/2006/relationships/hyperlink" Target="https://essex.primo.exlibrisgroup.com/permalink/44UOES_INST/1h1udbn/cdi_proquest_ebookcentral_EBC3135509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513017-27F3-46F5-BBCE-BF9CE7B11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08" y="2611456"/>
            <a:ext cx="8678584" cy="1635087"/>
          </a:xfrm>
        </p:spPr>
        <p:txBody>
          <a:bodyPr/>
          <a:lstStyle/>
          <a:p>
            <a:pPr algn="ctr"/>
            <a:br>
              <a:rPr lang="en-GB" sz="3200" dirty="0"/>
            </a:br>
            <a:br>
              <a:rPr lang="en-GB" sz="3200" dirty="0"/>
            </a:br>
            <a:r>
              <a:rPr lang="en-GB" sz="3200" dirty="0">
                <a:solidFill>
                  <a:schemeClr val="tx1"/>
                </a:solidFill>
                <a:latin typeface="+mj-lt"/>
              </a:rPr>
              <a:t>Advanced Object–Oriented </a:t>
            </a:r>
            <a:r>
              <a:rPr lang="en-GB" sz="3200">
                <a:solidFill>
                  <a:schemeClr val="tx1"/>
                </a:solidFill>
                <a:latin typeface="+mj-lt"/>
              </a:rPr>
              <a:t>Design &amp; Programming </a:t>
            </a:r>
            <a:r>
              <a:rPr lang="en-GB" sz="3200" dirty="0">
                <a:solidFill>
                  <a:schemeClr val="tx1"/>
                </a:solidFill>
                <a:latin typeface="+mj-lt"/>
              </a:rPr>
              <a:t>(AOODP)</a:t>
            </a:r>
            <a:br>
              <a:rPr lang="en-GB" sz="3200" dirty="0">
                <a:solidFill>
                  <a:schemeClr val="tx1"/>
                </a:solidFill>
                <a:latin typeface="+mj-lt"/>
              </a:rPr>
            </a:br>
            <a:br>
              <a:rPr lang="en-GB" sz="3200" dirty="0">
                <a:solidFill>
                  <a:schemeClr val="tx1"/>
                </a:solidFill>
                <a:latin typeface="+mj-lt"/>
              </a:rPr>
            </a:br>
            <a:r>
              <a:rPr lang="en-GB" sz="3200" dirty="0">
                <a:solidFill>
                  <a:schemeClr val="tx1"/>
                </a:solidFill>
                <a:latin typeface="+mj-lt"/>
              </a:rPr>
              <a:t>Seminar – 2: Unit 2</a:t>
            </a:r>
            <a:br>
              <a:rPr lang="en-GB" sz="3200" dirty="0">
                <a:solidFill>
                  <a:schemeClr val="tx1"/>
                </a:solidFill>
                <a:latin typeface="+mj-lt"/>
              </a:rPr>
            </a:br>
            <a:r>
              <a:rPr lang="en-GB" sz="3200" dirty="0">
                <a:solidFill>
                  <a:schemeClr val="tx1"/>
                </a:solidFill>
                <a:latin typeface="+mj-lt"/>
              </a:rPr>
              <a:t>SOLID Principles of OO Design </a:t>
            </a:r>
            <a:br>
              <a:rPr lang="en-GB" sz="3200" dirty="0"/>
            </a:br>
            <a:br>
              <a:rPr lang="en-GB" sz="32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endParaRPr lang="en-GB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A4D0C1-3C69-1E4C-9552-4C78481C0140}"/>
              </a:ext>
            </a:extLst>
          </p:cNvPr>
          <p:cNvSpPr txBox="1"/>
          <p:nvPr/>
        </p:nvSpPr>
        <p:spPr>
          <a:xfrm>
            <a:off x="1097280" y="4486656"/>
            <a:ext cx="7388352" cy="1446550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Dr. Anupam Mazumdar</a:t>
            </a:r>
          </a:p>
          <a:p>
            <a:pPr marL="0" indent="0" algn="ctr">
              <a:buNone/>
            </a:pPr>
            <a:r>
              <a:rPr lang="en-US" sz="2000" dirty="0">
                <a:cs typeface="Arial" panose="020B0604020202020204" pitchFamily="34" charset="0"/>
              </a:rPr>
              <a:t>Email: </a:t>
            </a:r>
            <a:r>
              <a:rPr lang="en-US" sz="2000" dirty="0"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anupam.mazumdar@kaplan.com</a:t>
            </a:r>
            <a:endParaRPr lang="en-US" sz="2000" dirty="0"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en-US" sz="2000" cap="none" spc="0" dirty="0">
                <a:ln>
                  <a:noFill/>
                </a:ln>
                <a:effectLst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nupam.mazumdar@aspectworld.com</a:t>
            </a:r>
            <a:endParaRPr lang="en-US" sz="2000" cap="none" spc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cs typeface="Arial" panose="020B0604020202020204" pitchFamily="34" charset="0"/>
              </a:rPr>
              <a:t>21/10/2025</a:t>
            </a:r>
            <a:endParaRPr lang="en-US" sz="2000" cap="none" spc="0" dirty="0">
              <a:ln>
                <a:noFill/>
              </a:ln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132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860611" y="1178526"/>
            <a:ext cx="7422778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buNone/>
            </a:pPr>
            <a:r>
              <a:rPr lang="en-GB" sz="3200" b="1" dirty="0"/>
              <a:t>Outlines of the Seminar -2</a:t>
            </a:r>
            <a:r>
              <a:rPr lang="en-GB" sz="3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16A87-61B2-6B42-B17A-25C5B3B93791}"/>
              </a:ext>
            </a:extLst>
          </p:cNvPr>
          <p:cNvSpPr txBox="1"/>
          <p:nvPr/>
        </p:nvSpPr>
        <p:spPr>
          <a:xfrm>
            <a:off x="420254" y="2197893"/>
            <a:ext cx="830349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Introduction to SOLID Principles:</a:t>
            </a:r>
          </a:p>
          <a:p>
            <a:pPr algn="just"/>
            <a:r>
              <a:rPr lang="en-GB" sz="2200" dirty="0"/>
              <a:t>	- Overview of OO design </a:t>
            </a:r>
          </a:p>
          <a:p>
            <a:pPr algn="just"/>
            <a:r>
              <a:rPr lang="en-GB" sz="2200" b="0" i="0" dirty="0">
                <a:effectLst/>
              </a:rPr>
              <a:t>	- Importance of SOLID principles in software development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Detailed exploration of SOLID Principles: </a:t>
            </a:r>
          </a:p>
          <a:p>
            <a:pPr algn="just"/>
            <a:r>
              <a:rPr lang="en-GB" sz="2200" dirty="0"/>
              <a:t>	- Single Responsibility Principle (SRP)</a:t>
            </a:r>
          </a:p>
          <a:p>
            <a:pPr algn="just"/>
            <a:r>
              <a:rPr lang="en-GB" sz="2200" b="0" i="0" dirty="0">
                <a:effectLst/>
              </a:rPr>
              <a:t>	- Open/Closed Principle</a:t>
            </a:r>
            <a:r>
              <a:rPr lang="en-GB" sz="2200" dirty="0"/>
              <a:t> (OCP)</a:t>
            </a:r>
          </a:p>
          <a:p>
            <a:pPr algn="just"/>
            <a:r>
              <a:rPr lang="en-GB" sz="2200" b="0" i="0" dirty="0">
                <a:effectLst/>
              </a:rPr>
              <a:t>	- </a:t>
            </a:r>
            <a:r>
              <a:rPr lang="en-GB" sz="2200" b="0" i="0" dirty="0" err="1">
                <a:effectLst/>
              </a:rPr>
              <a:t>Li</a:t>
            </a:r>
            <a:r>
              <a:rPr lang="en-GB" sz="2200" dirty="0" err="1"/>
              <a:t>skov</a:t>
            </a:r>
            <a:r>
              <a:rPr lang="en-GB" sz="2200" dirty="0"/>
              <a:t> Substitution Principle (LSP)</a:t>
            </a:r>
          </a:p>
          <a:p>
            <a:pPr algn="just"/>
            <a:r>
              <a:rPr lang="en-GB" sz="2200" b="0" i="0" dirty="0">
                <a:effectLst/>
              </a:rPr>
              <a:t>	- Interface Segregation Principle (ISP)</a:t>
            </a:r>
          </a:p>
          <a:p>
            <a:pPr algn="just"/>
            <a:r>
              <a:rPr lang="en-GB" sz="2200" dirty="0"/>
              <a:t>	- Dependency Inversion Principle (DIP)</a:t>
            </a:r>
            <a:endParaRPr lang="en-GB" sz="2200" b="0" i="0" dirty="0">
              <a:effectLst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Practical Exercises &amp; Answers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5712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860611" y="1171430"/>
            <a:ext cx="7422778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The organisation of the Seminars!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80472-4DF0-3C35-392D-1B3E519B3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08" y="1801643"/>
            <a:ext cx="8599055" cy="430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6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539046" y="1171154"/>
            <a:ext cx="8065906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Deadlines of Assignment Submission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92D4F-A9BF-6169-7AC0-DD882D123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926359"/>
            <a:ext cx="8877300" cy="222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3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0" y="1189903"/>
            <a:ext cx="903203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/>
              <a:t>Introduction to SOLID Principles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B2931-9FEE-C5F2-C589-B6A85BDCD584}"/>
              </a:ext>
            </a:extLst>
          </p:cNvPr>
          <p:cNvSpPr txBox="1"/>
          <p:nvPr/>
        </p:nvSpPr>
        <p:spPr>
          <a:xfrm>
            <a:off x="312316" y="1966606"/>
            <a:ext cx="8407400" cy="3416320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The SOLID principles are a set of five design principles in Object-Oriented Programming (OOP) that help create maintainable, scalable, and flexible software.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SOLID principles improves code readability and maintainability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SOLID principles reduces tight coupling and fragility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SOLID principles encourages reusable and modular design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SOLID principles is a set of five design principles aimed at reducing code rigidity, fragility, and increasing reusability and maintainability</a:t>
            </a:r>
          </a:p>
        </p:txBody>
      </p:sp>
    </p:spTree>
    <p:extLst>
      <p:ext uri="{BB962C8B-B14F-4D97-AF65-F5344CB8AC3E}">
        <p14:creationId xmlns:p14="http://schemas.microsoft.com/office/powerpoint/2010/main" val="116605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0" y="1189903"/>
            <a:ext cx="903203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0" i="0" dirty="0">
                <a:effectLst/>
                <a:latin typeface="akzidenz-grotesk"/>
              </a:rPr>
              <a:t>Importance of SOLID Principles in OO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21822-23A4-36EB-84F9-103361EE46DA}"/>
              </a:ext>
            </a:extLst>
          </p:cNvPr>
          <p:cNvSpPr txBox="1"/>
          <p:nvPr/>
        </p:nvSpPr>
        <p:spPr>
          <a:xfrm>
            <a:off x="312316" y="1985007"/>
            <a:ext cx="8407400" cy="3416320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Some key importance of SOLID principles are below: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Enhances maintainability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Reduces Code Duplication &amp; Improves Reusability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Minimizes Tight Coupling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Improves Scalability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Facilitates Easier Testing (Better Testability)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Encourages Better Collaboration in Teams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Reduces Risk of Bugs &amp; Side Effects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Supports Agile &amp; Long</a:t>
            </a:r>
            <a:r>
              <a:rPr lang="en-US" sz="2400" dirty="0">
                <a:cs typeface="Arial" panose="020B0604020202020204" pitchFamily="34" charset="0"/>
              </a:rPr>
              <a:t>-Term Development </a:t>
            </a: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253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Why SOLID Principles in OO Design? </a:t>
            </a:r>
            <a:endParaRPr lang="en-GB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098EA1-72D0-24D1-8C88-0D66353C0D61}"/>
              </a:ext>
            </a:extLst>
          </p:cNvPr>
          <p:cNvSpPr txBox="1"/>
          <p:nvPr/>
        </p:nvSpPr>
        <p:spPr>
          <a:xfrm>
            <a:off x="312316" y="1820116"/>
            <a:ext cx="8323684" cy="4893647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cs typeface="Arial" panose="020B0604020202020204" pitchFamily="34" charset="0"/>
              </a:rPr>
              <a:t>Here are the key reasons why SOLID principles are essential in OO design. </a:t>
            </a:r>
          </a:p>
          <a:p>
            <a:pPr algn="just"/>
            <a:endParaRPr lang="en-US" sz="2400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To avoid monolithic, Spaghetti Code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To enable easier maintenance &amp; updates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To reduce rigid, fragile designs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To improve testability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To support scalability &amp; future growth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To prevent violations of logical behavior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To streamline team collaboration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To minimize technical debt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031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0" y="1189903"/>
            <a:ext cx="903203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/>
              <a:t>Challenges of SOLID principles in OO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B2931-9FEE-C5F2-C589-B6A85BDCD584}"/>
              </a:ext>
            </a:extLst>
          </p:cNvPr>
          <p:cNvSpPr txBox="1"/>
          <p:nvPr/>
        </p:nvSpPr>
        <p:spPr>
          <a:xfrm>
            <a:off x="284583" y="1839080"/>
            <a:ext cx="8574833" cy="4493538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2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Below is a list of key difficulties developers face when applying SOLID in OO design: </a:t>
            </a:r>
          </a:p>
          <a:p>
            <a:pPr algn="just"/>
            <a:endParaRPr lang="en-US" sz="2200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Increased complexity &amp; over-engineering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cs typeface="Arial" panose="020B0604020202020204" pitchFamily="34" charset="0"/>
              </a:rPr>
              <a:t>Steeper learning curve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Performance overheads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cs typeface="Arial" panose="020B0604020202020204" pitchFamily="34" charset="0"/>
              </a:rPr>
              <a:t>Overuse of Dependency Injection (DI)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Rigi</a:t>
            </a:r>
            <a:r>
              <a:rPr lang="en-US" sz="2200" dirty="0">
                <a:cs typeface="Arial" panose="020B0604020202020204" pitchFamily="34" charset="0"/>
              </a:rPr>
              <a:t>d adherence can limit pragmatism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Testing complexity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cs typeface="Arial" panose="020B0604020202020204" pitchFamily="34" charset="0"/>
              </a:rPr>
              <a:t>Interface proliferation (ISP Pitfalls)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LSP violation in real-world hierarchies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cs typeface="Arial" panose="020B0604020202020204" pitchFamily="34" charset="0"/>
              </a:rPr>
              <a:t>Upfront time investment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Misapplication in Non-OO context </a:t>
            </a:r>
          </a:p>
        </p:txBody>
      </p:sp>
    </p:spTree>
    <p:extLst>
      <p:ext uri="{BB962C8B-B14F-4D97-AF65-F5344CB8AC3E}">
        <p14:creationId xmlns:p14="http://schemas.microsoft.com/office/powerpoint/2010/main" val="371058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/>
              <a:t>SOLID Principle – Single Responsibility Principle (SRP)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C3C47-3304-FF26-56CB-8B3F1906EC9A}"/>
              </a:ext>
            </a:extLst>
          </p:cNvPr>
          <p:cNvSpPr txBox="1"/>
          <p:nvPr/>
        </p:nvSpPr>
        <p:spPr>
          <a:xfrm>
            <a:off x="348967" y="2251916"/>
            <a:ext cx="3980284" cy="3785652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cs typeface="Arial" panose="020B0604020202020204" pitchFamily="34" charset="0"/>
              </a:rPr>
              <a:t>A class should have only one reason to change (i.e., one job)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cs typeface="Arial" panose="020B0604020202020204" pitchFamily="34" charset="0"/>
              </a:rPr>
              <a:t>Each class/module should encapsulate a single responsibility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cs typeface="Arial" panose="020B0604020202020204" pitchFamily="34" charset="0"/>
              </a:rPr>
              <a:t>Avoid “Good classes” that do too much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85CD0-5213-5349-75B1-0517E2E94AE5}"/>
              </a:ext>
            </a:extLst>
          </p:cNvPr>
          <p:cNvSpPr txBox="1"/>
          <p:nvPr/>
        </p:nvSpPr>
        <p:spPr>
          <a:xfrm>
            <a:off x="4419600" y="2067250"/>
            <a:ext cx="4375433" cy="4524315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cs typeface="Arial" panose="020B0604020202020204" pitchFamily="34" charset="0"/>
              </a:rPr>
              <a:t>Example 1: Violation</a:t>
            </a:r>
          </a:p>
          <a:p>
            <a:pPr algn="just"/>
            <a:r>
              <a:rPr lang="en-US" sz="2400" dirty="0">
                <a:cs typeface="Arial" panose="020B0604020202020204" pitchFamily="34" charset="0"/>
              </a:rPr>
              <a:t>class User:</a:t>
            </a:r>
          </a:p>
          <a:p>
            <a:pPr algn="just"/>
            <a:r>
              <a:rPr lang="en-US" sz="2400" dirty="0">
                <a:cs typeface="Arial" panose="020B0604020202020204" pitchFamily="34" charset="0"/>
              </a:rPr>
              <a:t>    def __</a:t>
            </a:r>
            <a:r>
              <a:rPr lang="en-US" sz="2400" dirty="0" err="1">
                <a:cs typeface="Arial" panose="020B0604020202020204" pitchFamily="34" charset="0"/>
              </a:rPr>
              <a:t>init</a:t>
            </a:r>
            <a:r>
              <a:rPr lang="en-US" sz="2400" dirty="0">
                <a:cs typeface="Arial" panose="020B0604020202020204" pitchFamily="34" charset="0"/>
              </a:rPr>
              <a:t>__(self, name: str):</a:t>
            </a:r>
          </a:p>
          <a:p>
            <a:pPr algn="just"/>
            <a:r>
              <a:rPr lang="en-US" sz="2400" dirty="0">
                <a:cs typeface="Arial" panose="020B0604020202020204" pitchFamily="34" charset="0"/>
              </a:rPr>
              <a:t>        </a:t>
            </a:r>
            <a:r>
              <a:rPr lang="en-US" sz="2400" dirty="0" err="1">
                <a:cs typeface="Arial" panose="020B0604020202020204" pitchFamily="34" charset="0"/>
              </a:rPr>
              <a:t>self.name</a:t>
            </a:r>
            <a:r>
              <a:rPr lang="en-US" sz="2400" dirty="0">
                <a:cs typeface="Arial" panose="020B0604020202020204" pitchFamily="34" charset="0"/>
              </a:rPr>
              <a:t> = name</a:t>
            </a:r>
          </a:p>
          <a:p>
            <a:pPr algn="just"/>
            <a:endParaRPr lang="en-US" sz="2400" dirty="0"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cs typeface="Arial" panose="020B0604020202020204" pitchFamily="34" charset="0"/>
              </a:rPr>
              <a:t>    def </a:t>
            </a:r>
            <a:r>
              <a:rPr lang="en-US" sz="2400" dirty="0" err="1">
                <a:cs typeface="Arial" panose="020B0604020202020204" pitchFamily="34" charset="0"/>
              </a:rPr>
              <a:t>save_to_database</a:t>
            </a:r>
            <a:r>
              <a:rPr lang="en-US" sz="2400" dirty="0">
                <a:cs typeface="Arial" panose="020B0604020202020204" pitchFamily="34" charset="0"/>
              </a:rPr>
              <a:t>(self):</a:t>
            </a:r>
          </a:p>
          <a:p>
            <a:pPr algn="just"/>
            <a:r>
              <a:rPr lang="en-US" sz="2400" dirty="0">
                <a:cs typeface="Arial" panose="020B0604020202020204" pitchFamily="34" charset="0"/>
              </a:rPr>
              <a:t>        print(</a:t>
            </a:r>
            <a:r>
              <a:rPr lang="en-US" sz="2400" dirty="0" err="1">
                <a:cs typeface="Arial" panose="020B0604020202020204" pitchFamily="34" charset="0"/>
              </a:rPr>
              <a:t>f"Saving</a:t>
            </a:r>
            <a:r>
              <a:rPr lang="en-US" sz="2400" dirty="0">
                <a:cs typeface="Arial" panose="020B0604020202020204" pitchFamily="34" charset="0"/>
              </a:rPr>
              <a:t> {</a:t>
            </a:r>
            <a:r>
              <a:rPr lang="en-US" sz="2400" dirty="0" err="1">
                <a:cs typeface="Arial" panose="020B0604020202020204" pitchFamily="34" charset="0"/>
              </a:rPr>
              <a:t>self.name</a:t>
            </a:r>
            <a:r>
              <a:rPr lang="en-US" sz="2400" dirty="0">
                <a:cs typeface="Arial" panose="020B0604020202020204" pitchFamily="34" charset="0"/>
              </a:rPr>
              <a:t>} to database...")</a:t>
            </a:r>
          </a:p>
          <a:p>
            <a:pPr algn="just"/>
            <a:endParaRPr lang="en-US" sz="2400" dirty="0"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cs typeface="Arial" panose="020B0604020202020204" pitchFamily="34" charset="0"/>
              </a:rPr>
              <a:t>Problem: </a:t>
            </a:r>
            <a:r>
              <a:rPr lang="en-US" sz="2400" dirty="0">
                <a:cs typeface="Arial" panose="020B0604020202020204" pitchFamily="34" charset="0"/>
              </a:rPr>
              <a:t>`User` handles both data representation AND database operations.</a:t>
            </a:r>
          </a:p>
        </p:txBody>
      </p:sp>
    </p:spTree>
    <p:extLst>
      <p:ext uri="{BB962C8B-B14F-4D97-AF65-F5344CB8AC3E}">
        <p14:creationId xmlns:p14="http://schemas.microsoft.com/office/powerpoint/2010/main" val="3270191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SOLID Principle – Open/Closed Principle (OCP)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76F21-9F0A-37F4-09FB-0D2EE3EDCBBD}"/>
              </a:ext>
            </a:extLst>
          </p:cNvPr>
          <p:cNvSpPr txBox="1"/>
          <p:nvPr/>
        </p:nvSpPr>
        <p:spPr>
          <a:xfrm>
            <a:off x="312316" y="1820116"/>
            <a:ext cx="3980284" cy="4401205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Software should be open for extension but closed for modification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Add new features via inheritance/composition, not by changing existing code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Use abstraction (interfaces) to enable flexibility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70B5B-C777-B904-F043-9FE9335EB9CA}"/>
              </a:ext>
            </a:extLst>
          </p:cNvPr>
          <p:cNvSpPr txBox="1"/>
          <p:nvPr/>
        </p:nvSpPr>
        <p:spPr>
          <a:xfrm>
            <a:off x="4442691" y="1820116"/>
            <a:ext cx="4572000" cy="4031873"/>
          </a:xfrm>
          <a:prstGeom prst="rect">
            <a:avLst/>
          </a:prstGeom>
          <a:noFill/>
          <a:ln w="6350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 dirty="0"/>
              <a:t>Example: Violation </a:t>
            </a:r>
          </a:p>
          <a:p>
            <a:endParaRPr lang="en-GB" dirty="0">
              <a:effectLst/>
            </a:endParaRPr>
          </a:p>
          <a:p>
            <a:r>
              <a:rPr lang="en-GB" sz="2000" dirty="0">
                <a:effectLst/>
              </a:rPr>
              <a:t>class Discount:</a:t>
            </a:r>
          </a:p>
          <a:p>
            <a:r>
              <a:rPr lang="en-GB" sz="2000" dirty="0">
                <a:effectLst/>
              </a:rPr>
              <a:t>    def apply(self, price, </a:t>
            </a:r>
            <a:r>
              <a:rPr lang="en-GB" sz="2000" dirty="0" err="1">
                <a:effectLst/>
              </a:rPr>
              <a:t>user_type</a:t>
            </a:r>
            <a:r>
              <a:rPr lang="en-GB" sz="2000" dirty="0">
                <a:effectLst/>
              </a:rPr>
              <a:t>):</a:t>
            </a:r>
          </a:p>
          <a:p>
            <a:r>
              <a:rPr lang="en-GB" sz="2000" dirty="0">
                <a:effectLst/>
              </a:rPr>
              <a:t>        if </a:t>
            </a:r>
            <a:r>
              <a:rPr lang="en-GB" sz="2000" dirty="0" err="1">
                <a:effectLst/>
              </a:rPr>
              <a:t>user_type</a:t>
            </a:r>
            <a:r>
              <a:rPr lang="en-GB" sz="2000" dirty="0">
                <a:effectLst/>
              </a:rPr>
              <a:t> == "VIP":</a:t>
            </a:r>
          </a:p>
          <a:p>
            <a:r>
              <a:rPr lang="en-GB" sz="2000" dirty="0">
                <a:effectLst/>
              </a:rPr>
              <a:t>            return price * 0.8</a:t>
            </a:r>
          </a:p>
          <a:p>
            <a:r>
              <a:rPr lang="en-GB" sz="2000" dirty="0">
                <a:effectLst/>
              </a:rPr>
              <a:t>        </a:t>
            </a:r>
            <a:r>
              <a:rPr lang="en-GB" sz="2000" dirty="0" err="1">
                <a:effectLst/>
              </a:rPr>
              <a:t>elif</a:t>
            </a:r>
            <a:r>
              <a:rPr lang="en-GB" sz="2000" dirty="0">
                <a:effectLst/>
              </a:rPr>
              <a:t> </a:t>
            </a:r>
            <a:r>
              <a:rPr lang="en-GB" sz="2000" dirty="0" err="1">
                <a:effectLst/>
              </a:rPr>
              <a:t>user_type</a:t>
            </a:r>
            <a:r>
              <a:rPr lang="en-GB" sz="2000" dirty="0">
                <a:effectLst/>
              </a:rPr>
              <a:t> == "Regular":</a:t>
            </a:r>
          </a:p>
          <a:p>
            <a:r>
              <a:rPr lang="en-GB" sz="2000" dirty="0">
                <a:effectLst/>
              </a:rPr>
              <a:t>            return price * 0.9</a:t>
            </a:r>
          </a:p>
          <a:p>
            <a:r>
              <a:rPr lang="en-GB" sz="2000" dirty="0">
                <a:effectLst/>
              </a:rPr>
              <a:t>        # Adding a new type requires modifying this method!</a:t>
            </a:r>
          </a:p>
          <a:p>
            <a:endParaRPr lang="en-GB" sz="2000" dirty="0">
              <a:effectLst/>
            </a:endParaRPr>
          </a:p>
          <a:p>
            <a:r>
              <a:rPr lang="en-GB" sz="2000" b="1" dirty="0">
                <a:effectLst/>
              </a:rPr>
              <a:t>Problem: </a:t>
            </a:r>
            <a:r>
              <a:rPr lang="en-GB" sz="2000" dirty="0">
                <a:effectLst/>
              </a:rPr>
              <a:t>Must edit `apply()` for every new user type.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9533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SOLID Principle – </a:t>
            </a:r>
            <a:r>
              <a:rPr lang="en-GB" sz="3200" b="1" dirty="0" err="1"/>
              <a:t>Liskov</a:t>
            </a:r>
            <a:r>
              <a:rPr lang="en-GB" sz="3200" b="1" dirty="0"/>
              <a:t> Substitution Principle (LSP)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76F21-9F0A-37F4-09FB-0D2EE3EDCBBD}"/>
              </a:ext>
            </a:extLst>
          </p:cNvPr>
          <p:cNvSpPr txBox="1"/>
          <p:nvPr/>
        </p:nvSpPr>
        <p:spPr>
          <a:xfrm>
            <a:off x="312316" y="1820116"/>
            <a:ext cx="3980284" cy="4832092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Subclasses should substitute their parent class without breaking behavior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Child classes must not weaken preconditions or strengthen postconditions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Avoid surprises when replacing a parent with a child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70B5B-C777-B904-F043-9FE9335EB9CA}"/>
              </a:ext>
            </a:extLst>
          </p:cNvPr>
          <p:cNvSpPr txBox="1"/>
          <p:nvPr/>
        </p:nvSpPr>
        <p:spPr>
          <a:xfrm>
            <a:off x="4442691" y="1820116"/>
            <a:ext cx="4572000" cy="4739759"/>
          </a:xfrm>
          <a:prstGeom prst="rect">
            <a:avLst/>
          </a:prstGeom>
          <a:noFill/>
          <a:ln w="6350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 dirty="0"/>
              <a:t>Example: Violation (Square-Rectangle Problem) </a:t>
            </a:r>
            <a:endParaRPr lang="en-GB" dirty="0">
              <a:effectLst/>
            </a:endParaRPr>
          </a:p>
          <a:p>
            <a:r>
              <a:rPr lang="en-GB" sz="1900" dirty="0">
                <a:effectLst/>
              </a:rPr>
              <a:t>class Rectangle:</a:t>
            </a:r>
          </a:p>
          <a:p>
            <a:r>
              <a:rPr lang="en-GB" sz="1900" dirty="0">
                <a:effectLst/>
              </a:rPr>
              <a:t>    def __</a:t>
            </a:r>
            <a:r>
              <a:rPr lang="en-GB" sz="1900" dirty="0" err="1">
                <a:effectLst/>
              </a:rPr>
              <a:t>init</a:t>
            </a:r>
            <a:r>
              <a:rPr lang="en-GB" sz="1900" dirty="0">
                <a:effectLst/>
              </a:rPr>
              <a:t>__(self, width, height):</a:t>
            </a:r>
          </a:p>
          <a:p>
            <a:r>
              <a:rPr lang="en-GB" sz="1900" dirty="0">
                <a:effectLst/>
              </a:rPr>
              <a:t>        </a:t>
            </a:r>
            <a:r>
              <a:rPr lang="en-GB" sz="1900" dirty="0" err="1">
                <a:effectLst/>
              </a:rPr>
              <a:t>self.width</a:t>
            </a:r>
            <a:r>
              <a:rPr lang="en-GB" sz="1900" dirty="0">
                <a:effectLst/>
              </a:rPr>
              <a:t> = width</a:t>
            </a:r>
          </a:p>
          <a:p>
            <a:r>
              <a:rPr lang="en-GB" sz="1900" dirty="0">
                <a:effectLst/>
              </a:rPr>
              <a:t>        </a:t>
            </a:r>
            <a:r>
              <a:rPr lang="en-GB" sz="1900" dirty="0" err="1">
                <a:effectLst/>
              </a:rPr>
              <a:t>self.height</a:t>
            </a:r>
            <a:r>
              <a:rPr lang="en-GB" sz="1900" dirty="0">
                <a:effectLst/>
              </a:rPr>
              <a:t> = height</a:t>
            </a:r>
          </a:p>
          <a:p>
            <a:endParaRPr lang="en-GB" sz="1900" dirty="0">
              <a:effectLst/>
            </a:endParaRPr>
          </a:p>
          <a:p>
            <a:r>
              <a:rPr lang="en-GB" sz="1900" dirty="0">
                <a:effectLst/>
              </a:rPr>
              <a:t>    def area(self):</a:t>
            </a:r>
          </a:p>
          <a:p>
            <a:r>
              <a:rPr lang="en-GB" sz="1900" dirty="0">
                <a:effectLst/>
              </a:rPr>
              <a:t>        return </a:t>
            </a:r>
            <a:r>
              <a:rPr lang="en-GB" sz="1900" dirty="0" err="1">
                <a:effectLst/>
              </a:rPr>
              <a:t>self.width</a:t>
            </a:r>
            <a:r>
              <a:rPr lang="en-GB" sz="1900" dirty="0">
                <a:effectLst/>
              </a:rPr>
              <a:t> * </a:t>
            </a:r>
            <a:r>
              <a:rPr lang="en-GB" sz="1900" dirty="0" err="1">
                <a:effectLst/>
              </a:rPr>
              <a:t>self.height</a:t>
            </a:r>
            <a:endParaRPr lang="en-GB" sz="1900" dirty="0">
              <a:effectLst/>
            </a:endParaRPr>
          </a:p>
          <a:p>
            <a:endParaRPr lang="en-GB" sz="1900" dirty="0">
              <a:effectLst/>
            </a:endParaRPr>
          </a:p>
          <a:p>
            <a:r>
              <a:rPr lang="en-GB" sz="1900" dirty="0">
                <a:effectLst/>
              </a:rPr>
              <a:t>class Square(Rectangle):</a:t>
            </a:r>
          </a:p>
          <a:p>
            <a:r>
              <a:rPr lang="en-GB" sz="1900" dirty="0">
                <a:effectLst/>
              </a:rPr>
              <a:t>    def __</a:t>
            </a:r>
            <a:r>
              <a:rPr lang="en-GB" sz="1900" dirty="0" err="1">
                <a:effectLst/>
              </a:rPr>
              <a:t>init</a:t>
            </a:r>
            <a:r>
              <a:rPr lang="en-GB" sz="1900" dirty="0">
                <a:effectLst/>
              </a:rPr>
              <a:t>__(self, side):</a:t>
            </a:r>
          </a:p>
          <a:p>
            <a:r>
              <a:rPr lang="en-GB" sz="1900" dirty="0">
                <a:effectLst/>
              </a:rPr>
              <a:t>        super().__</a:t>
            </a:r>
            <a:r>
              <a:rPr lang="en-GB" sz="1900" dirty="0" err="1">
                <a:effectLst/>
              </a:rPr>
              <a:t>init</a:t>
            </a:r>
            <a:r>
              <a:rPr lang="en-GB" sz="1900" dirty="0">
                <a:effectLst/>
              </a:rPr>
              <a:t>__(side, side)</a:t>
            </a:r>
          </a:p>
          <a:p>
            <a:endParaRPr lang="en-GB" sz="1900" dirty="0">
              <a:effectLst/>
            </a:endParaRPr>
          </a:p>
          <a:p>
            <a:r>
              <a:rPr lang="en-GB" sz="1900" b="1" dirty="0">
                <a:effectLst/>
              </a:rPr>
              <a:t>Problem: </a:t>
            </a:r>
            <a:r>
              <a:rPr lang="en-GB" sz="1900" dirty="0">
                <a:effectLst/>
              </a:rPr>
              <a:t>Setting `</a:t>
            </a:r>
            <a:r>
              <a:rPr lang="en-GB" sz="1900" dirty="0" err="1">
                <a:effectLst/>
              </a:rPr>
              <a:t>square.width</a:t>
            </a:r>
            <a:r>
              <a:rPr lang="en-GB" sz="1900" dirty="0">
                <a:effectLst/>
              </a:rPr>
              <a:t> = 5` breaks the square's invariant (width != height).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300598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000" b="1" dirty="0"/>
              <a:t>SOLID Principle – Interface Segregation Principle (ISP)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76F21-9F0A-37F4-09FB-0D2EE3EDCBBD}"/>
              </a:ext>
            </a:extLst>
          </p:cNvPr>
          <p:cNvSpPr txBox="1"/>
          <p:nvPr/>
        </p:nvSpPr>
        <p:spPr>
          <a:xfrm>
            <a:off x="312316" y="1820116"/>
            <a:ext cx="3980284" cy="3970318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Clients should not depend on interfaces they do not use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Prefer small, focused interfaces over monolithic ones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Avoid forcing classes to implement irrelevant 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70B5B-C777-B904-F043-9FE9335EB9CA}"/>
              </a:ext>
            </a:extLst>
          </p:cNvPr>
          <p:cNvSpPr txBox="1"/>
          <p:nvPr/>
        </p:nvSpPr>
        <p:spPr>
          <a:xfrm>
            <a:off x="4442691" y="1820116"/>
            <a:ext cx="4572000" cy="4154984"/>
          </a:xfrm>
          <a:prstGeom prst="rect">
            <a:avLst/>
          </a:prstGeom>
          <a:noFill/>
          <a:ln w="6350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 dirty="0"/>
              <a:t>Example: Violation </a:t>
            </a:r>
          </a:p>
          <a:p>
            <a:endParaRPr lang="en-GB" dirty="0">
              <a:effectLst/>
            </a:endParaRPr>
          </a:p>
          <a:p>
            <a:r>
              <a:rPr lang="en-GB" sz="1900" dirty="0">
                <a:effectLst/>
              </a:rPr>
              <a:t>class Machine:</a:t>
            </a:r>
          </a:p>
          <a:p>
            <a:r>
              <a:rPr lang="en-GB" sz="1900" dirty="0">
                <a:effectLst/>
              </a:rPr>
              <a:t>    def print(self):</a:t>
            </a:r>
          </a:p>
          <a:p>
            <a:r>
              <a:rPr lang="en-GB" sz="1900" dirty="0">
                <a:effectLst/>
              </a:rPr>
              <a:t>        pass</a:t>
            </a:r>
          </a:p>
          <a:p>
            <a:endParaRPr lang="en-GB" sz="1900" dirty="0">
              <a:effectLst/>
            </a:endParaRPr>
          </a:p>
          <a:p>
            <a:r>
              <a:rPr lang="en-GB" sz="1900" dirty="0">
                <a:effectLst/>
              </a:rPr>
              <a:t>    def scan(self):</a:t>
            </a:r>
          </a:p>
          <a:p>
            <a:r>
              <a:rPr lang="en-GB" sz="1900" dirty="0">
                <a:effectLst/>
              </a:rPr>
              <a:t>        pass</a:t>
            </a:r>
          </a:p>
          <a:p>
            <a:endParaRPr lang="en-GB" sz="1900" dirty="0">
              <a:effectLst/>
            </a:endParaRPr>
          </a:p>
          <a:p>
            <a:r>
              <a:rPr lang="en-GB" sz="1900" dirty="0">
                <a:effectLst/>
              </a:rPr>
              <a:t>    def fax(self):</a:t>
            </a:r>
          </a:p>
          <a:p>
            <a:r>
              <a:rPr lang="en-GB" sz="1900" dirty="0">
                <a:effectLst/>
              </a:rPr>
              <a:t>        pass</a:t>
            </a:r>
          </a:p>
          <a:p>
            <a:endParaRPr lang="en-GB" sz="1900" dirty="0">
              <a:effectLst/>
            </a:endParaRPr>
          </a:p>
          <a:p>
            <a:r>
              <a:rPr lang="en-GB" sz="1900" b="1" dirty="0">
                <a:effectLst/>
              </a:rPr>
              <a:t>Problem: </a:t>
            </a:r>
            <a:r>
              <a:rPr lang="en-GB" sz="1900" dirty="0">
                <a:effectLst/>
              </a:rPr>
              <a:t>A simple Printer must implement unused `scan()` and `fax()`.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4099195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000" b="1" dirty="0"/>
              <a:t>SOLID Principle – Dependency Inversion Principle (DIP)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76F21-9F0A-37F4-09FB-0D2EE3EDCBBD}"/>
              </a:ext>
            </a:extLst>
          </p:cNvPr>
          <p:cNvSpPr txBox="1"/>
          <p:nvPr/>
        </p:nvSpPr>
        <p:spPr>
          <a:xfrm>
            <a:off x="312316" y="1820116"/>
            <a:ext cx="3980284" cy="4401205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High-level modules should not depend on low-level modules. Both should depend on abstractions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Depend on interfaces, not concrete implementations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Enables loose coupling and easier testing.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70B5B-C777-B904-F043-9FE9335EB9CA}"/>
              </a:ext>
            </a:extLst>
          </p:cNvPr>
          <p:cNvSpPr txBox="1"/>
          <p:nvPr/>
        </p:nvSpPr>
        <p:spPr>
          <a:xfrm>
            <a:off x="4442691" y="1820116"/>
            <a:ext cx="4572000" cy="4647426"/>
          </a:xfrm>
          <a:prstGeom prst="rect">
            <a:avLst/>
          </a:prstGeom>
          <a:noFill/>
          <a:ln w="6350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 dirty="0"/>
              <a:t>Example: Violation </a:t>
            </a:r>
          </a:p>
          <a:p>
            <a:endParaRPr lang="en-GB" dirty="0">
              <a:effectLst/>
            </a:endParaRPr>
          </a:p>
          <a:p>
            <a:r>
              <a:rPr lang="en-GB" sz="2000" dirty="0">
                <a:effectLst/>
              </a:rPr>
              <a:t>class </a:t>
            </a:r>
            <a:r>
              <a:rPr lang="en-GB" sz="2000" dirty="0" err="1">
                <a:effectLst/>
              </a:rPr>
              <a:t>LightBulb</a:t>
            </a:r>
            <a:r>
              <a:rPr lang="en-GB" sz="2000" dirty="0">
                <a:effectLst/>
              </a:rPr>
              <a:t>:</a:t>
            </a:r>
          </a:p>
          <a:p>
            <a:r>
              <a:rPr lang="en-GB" sz="2000" dirty="0">
                <a:effectLst/>
              </a:rPr>
              <a:t>    def </a:t>
            </a:r>
            <a:r>
              <a:rPr lang="en-GB" sz="2000" dirty="0" err="1">
                <a:effectLst/>
              </a:rPr>
              <a:t>turn_on</a:t>
            </a:r>
            <a:r>
              <a:rPr lang="en-GB" sz="2000" dirty="0">
                <a:effectLst/>
              </a:rPr>
              <a:t>(self):</a:t>
            </a:r>
          </a:p>
          <a:p>
            <a:r>
              <a:rPr lang="en-GB" sz="2000" dirty="0">
                <a:effectLst/>
              </a:rPr>
              <a:t>        print("Bulb: ON")</a:t>
            </a:r>
          </a:p>
          <a:p>
            <a:endParaRPr lang="en-GB" sz="2000" dirty="0">
              <a:effectLst/>
            </a:endParaRPr>
          </a:p>
          <a:p>
            <a:r>
              <a:rPr lang="en-GB" sz="2000" dirty="0">
                <a:effectLst/>
              </a:rPr>
              <a:t>class Switch:</a:t>
            </a:r>
          </a:p>
          <a:p>
            <a:r>
              <a:rPr lang="en-GB" sz="2000" dirty="0">
                <a:effectLst/>
              </a:rPr>
              <a:t>    def __</a:t>
            </a:r>
            <a:r>
              <a:rPr lang="en-GB" sz="2000" dirty="0" err="1">
                <a:effectLst/>
              </a:rPr>
              <a:t>init</a:t>
            </a:r>
            <a:r>
              <a:rPr lang="en-GB" sz="2000" dirty="0">
                <a:effectLst/>
              </a:rPr>
              <a:t>__(self):</a:t>
            </a:r>
          </a:p>
          <a:p>
            <a:r>
              <a:rPr lang="en-GB" sz="2000" dirty="0">
                <a:effectLst/>
              </a:rPr>
              <a:t>        </a:t>
            </a:r>
            <a:r>
              <a:rPr lang="en-GB" sz="2000" dirty="0" err="1">
                <a:effectLst/>
              </a:rPr>
              <a:t>self.bulb</a:t>
            </a:r>
            <a:r>
              <a:rPr lang="en-GB" sz="2000" dirty="0">
                <a:effectLst/>
              </a:rPr>
              <a:t> = </a:t>
            </a:r>
            <a:r>
              <a:rPr lang="en-GB" sz="2000" dirty="0" err="1">
                <a:effectLst/>
              </a:rPr>
              <a:t>LightBulb</a:t>
            </a:r>
            <a:r>
              <a:rPr lang="en-GB" sz="2000" dirty="0">
                <a:effectLst/>
              </a:rPr>
              <a:t>()</a:t>
            </a:r>
          </a:p>
          <a:p>
            <a:endParaRPr lang="en-GB" sz="2000" dirty="0">
              <a:effectLst/>
            </a:endParaRPr>
          </a:p>
          <a:p>
            <a:r>
              <a:rPr lang="en-GB" sz="2000" dirty="0">
                <a:effectLst/>
              </a:rPr>
              <a:t>    def operate(self):</a:t>
            </a:r>
          </a:p>
          <a:p>
            <a:r>
              <a:rPr lang="en-GB" sz="2000" dirty="0">
                <a:effectLst/>
              </a:rPr>
              <a:t>        </a:t>
            </a:r>
            <a:r>
              <a:rPr lang="en-GB" sz="2000" dirty="0" err="1">
                <a:effectLst/>
              </a:rPr>
              <a:t>self.bulb.turn_on</a:t>
            </a:r>
            <a:r>
              <a:rPr lang="en-GB" sz="2000" dirty="0">
                <a:effectLst/>
              </a:rPr>
              <a:t>()</a:t>
            </a:r>
          </a:p>
          <a:p>
            <a:endParaRPr lang="en-GB" sz="2000" dirty="0">
              <a:effectLst/>
            </a:endParaRPr>
          </a:p>
          <a:p>
            <a:r>
              <a:rPr lang="en-GB" sz="2000" b="1" dirty="0">
                <a:effectLst/>
              </a:rPr>
              <a:t>Problem: </a:t>
            </a:r>
            <a:r>
              <a:rPr lang="en-GB" sz="2000" dirty="0">
                <a:effectLst/>
              </a:rPr>
              <a:t>Switch is tightly coupled to </a:t>
            </a:r>
            <a:r>
              <a:rPr lang="en-GB" sz="2000" dirty="0" err="1">
                <a:effectLst/>
              </a:rPr>
              <a:t>LightBulb</a:t>
            </a:r>
            <a:r>
              <a:rPr lang="en-GB" sz="2000" dirty="0">
                <a:effectLst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91440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B9F8-97B5-41F4-940B-2C90CDE2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69552"/>
            <a:ext cx="7886700" cy="52146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Seminar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B87C2-6C36-4450-BB88-D0EDC2531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8127" y="2498001"/>
            <a:ext cx="8707745" cy="930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2400" b="0" i="0" dirty="0">
                <a:effectLst/>
                <a:latin typeface="+mn-lt"/>
              </a:rPr>
              <a:t>Write simple code snippets and practice refactoring them to improve readability and maintainability</a:t>
            </a:r>
            <a:endParaRPr lang="en-GB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4098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B9F8-97B5-41F4-940B-2C90CDE2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Reference!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1A162-AA81-7AFF-7A85-CE68F91D44E0}"/>
              </a:ext>
            </a:extLst>
          </p:cNvPr>
          <p:cNvSpPr txBox="1"/>
          <p:nvPr/>
        </p:nvSpPr>
        <p:spPr>
          <a:xfrm>
            <a:off x="404160" y="2203605"/>
            <a:ext cx="8335680" cy="369332"/>
          </a:xfrm>
          <a:prstGeom prst="rect">
            <a:avLst/>
          </a:prstGeom>
          <a:noFill/>
          <a:ln w="6350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GB" b="0" i="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40822-FDEB-0CEB-4784-51ED5A04F746}"/>
              </a:ext>
            </a:extLst>
          </p:cNvPr>
          <p:cNvSpPr txBox="1"/>
          <p:nvPr/>
        </p:nvSpPr>
        <p:spPr>
          <a:xfrm>
            <a:off x="265395" y="1691014"/>
            <a:ext cx="8613209" cy="4983224"/>
          </a:xfrm>
          <a:prstGeom prst="rect">
            <a:avLst/>
          </a:prstGeom>
          <a:noFill/>
          <a:ln w="63500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Marcotte, C.-H. (2022)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 atypical </a:t>
            </a:r>
            <a:r>
              <a:rPr lang="en-GB" sz="1500" i="1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asp.net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core 6 design patterns guide : a solid adventure into architectural principles and design patterns using </a:t>
            </a:r>
            <a:r>
              <a:rPr lang="en-GB" sz="1500" i="1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.net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6 and </a:t>
            </a:r>
            <a:r>
              <a:rPr lang="en-GB" sz="1500" i="1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c#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10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Second edition. Birmingham, England ;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Packt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Publishing.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https://essex.primo.exlibrisgroup.com/permalink/44UOES_INST/ngp9lg/alma991008470538107346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Martin, R. C. (2023)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Functional Design: Principles, Patterns, and Practices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Addison-Wesley Professional.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https://essex.primo.exlibrisgroup.com/permalink/44UOES_INST/1h1udbn/cdi_askewsholts_vlebooks_9780138176471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Ayeva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K. &amp;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Kasampalis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S. (2024)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Mastering Python Design Patterns: Craft Essential Python Patterns by Following Core Design Principles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3rd edition. Birmingham: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Packt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Publishing, Limited.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https://essex.primo.exlibrisgroup.com/permalink/44UOES_INST/1h1udbn/cdi_proquest_ebookcentral_EBC31355094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Sarcar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V. (2022)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Java Design Patterns: A Hands-On Experience with Real-World Examples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Third edition. [Online]. Berkeley, CA: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Apress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https://essex.primo.exlibrisgroup.com/permalink/44UOES_INST/1h1udbn/cdi_perlego_books_4513941</a:t>
            </a:r>
            <a:endParaRPr lang="en-GB" sz="1500" u="sng" dirty="0">
              <a:solidFill>
                <a:srgbClr val="0563C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GB" sz="1500" dirty="0" err="1">
                <a:solidFill>
                  <a:srgbClr val="3A3A3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Yanakiev</a:t>
            </a:r>
            <a:r>
              <a:rPr lang="en-GB" sz="1500" dirty="0">
                <a:solidFill>
                  <a:srgbClr val="3A3A3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et al. (2025) Applying SOLID principles for the refactoring of legacy code: An experience report. </a:t>
            </a:r>
            <a:r>
              <a:rPr lang="en-GB" sz="1500" i="1" dirty="0">
                <a:solidFill>
                  <a:srgbClr val="3A3A3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Journal of systems and software</a:t>
            </a:r>
            <a:r>
              <a:rPr lang="en-GB" sz="1500" dirty="0">
                <a:solidFill>
                  <a:srgbClr val="3A3A3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[Online] 220112254-. </a:t>
            </a:r>
            <a:r>
              <a:rPr lang="en-GB" sz="1500" u="sng" dirty="0">
                <a:solidFill>
                  <a:srgbClr val="0563C1"/>
                </a:solidFill>
                <a:effectLst/>
                <a:ea typeface="Times New Roman" panose="02020603050405020304" pitchFamily="18" charset="0"/>
                <a:hlinkClick r:id="rId6"/>
              </a:rPr>
              <a:t>https://essex.primo.exlibrisgroup.com/permalink/44UOES_INST/1h1udbn/cdi_elsevier_sciencedirect_doi_10_1016_j_jss_2024_112254</a:t>
            </a:r>
            <a:r>
              <a:rPr lang="en-GB" sz="1500" dirty="0">
                <a:solidFill>
                  <a:srgbClr val="3A3A3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60493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63500">
          <a:gradFill>
            <a:gsLst>
              <a:gs pos="0">
                <a:srgbClr val="4D1451">
                  <a:lumMod val="90000"/>
                  <a:lumOff val="10000"/>
                </a:srgbClr>
              </a:gs>
              <a:gs pos="98000">
                <a:srgbClr val="DB342A"/>
              </a:gs>
            </a:gsLst>
            <a:lin ang="6000000" scaled="0"/>
          </a:gradFill>
          <a:miter lim="800000"/>
        </a:ln>
      </a:spPr>
      <a:bodyPr wrap="square" rtlCol="0">
        <a:spAutoFit/>
      </a:bodyPr>
      <a:lstStyle>
        <a:defPPr marL="0" indent="0" algn="l">
          <a:buNone/>
          <a:defRPr sz="2800" cap="none" spc="0" dirty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2CC8FA352E2849A9FD47BBFF2D1BA4" ma:contentTypeVersion="8" ma:contentTypeDescription="Create a new document." ma:contentTypeScope="" ma:versionID="608c2774b8c42faa26094739c4dbc861">
  <xsd:schema xmlns:xsd="http://www.w3.org/2001/XMLSchema" xmlns:xs="http://www.w3.org/2001/XMLSchema" xmlns:p="http://schemas.microsoft.com/office/2006/metadata/properties" xmlns:ns2="4f8a9c07-6fb1-4933-95cf-e7ea8c347c2b" xmlns:ns3="4e761da8-9904-41c4-abaf-432f876ad523" targetNamespace="http://schemas.microsoft.com/office/2006/metadata/properties" ma:root="true" ma:fieldsID="726213bbd9a9d5fb1736dc486409d040" ns2:_="" ns3:_="">
    <xsd:import namespace="4f8a9c07-6fb1-4933-95cf-e7ea8c347c2b"/>
    <xsd:import namespace="4e761da8-9904-41c4-abaf-432f876ad5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8a9c07-6fb1-4933-95cf-e7ea8c347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761da8-9904-41c4-abaf-432f876ad52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37D29E-431F-4655-8486-FF6A056428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221FE4-A2B4-440C-B0A6-D7D147162A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8a9c07-6fb1-4933-95cf-e7ea8c347c2b"/>
    <ds:schemaRef ds:uri="4e761da8-9904-41c4-abaf-432f876ad5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732F2D-535B-489C-826D-1EBB17CFBC6F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4e761da8-9904-41c4-abaf-432f876ad523"/>
    <ds:schemaRef ds:uri="4f8a9c07-6fb1-4933-95cf-e7ea8c347c2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1233</Words>
  <Application>Microsoft Office PowerPoint</Application>
  <PresentationFormat>On-screen Show (4:3)</PresentationFormat>
  <Paragraphs>148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akzidenz-grotesk</vt:lpstr>
      <vt:lpstr>Arial</vt:lpstr>
      <vt:lpstr>Calibri</vt:lpstr>
      <vt:lpstr>Times New Roman</vt:lpstr>
      <vt:lpstr>Wingdings</vt:lpstr>
      <vt:lpstr>1_Custom Design</vt:lpstr>
      <vt:lpstr>  Advanced Object–Oriented Design &amp; Programming (AOODP)  Seminar – 2: Unit 2 SOLID Principles of OO Design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Seminar Task</vt:lpstr>
      <vt:lpstr>Reference!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Brazier, Suzanne C</dc:creator>
  <cp:lastModifiedBy>Anupam Mazumdar</cp:lastModifiedBy>
  <cp:revision>120</cp:revision>
  <dcterms:created xsi:type="dcterms:W3CDTF">2019-05-01T15:27:08Z</dcterms:created>
  <dcterms:modified xsi:type="dcterms:W3CDTF">2025-10-31T14:29:13Z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0x010100F92CC8FA352E2849A9FD47BBFF2D1BA4</vt:lpwstr>
  </property>
</Properties>
</file>